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TITLE SLIDE:</a:t>
            </a:r>
          </a:p>
          <a:p>
            <a:r>
              <a:t>Good morning/afternoon, Respected Ma'am.</a:t>
            </a:r>
          </a:p>
          <a:p>
            <a:r>
              <a:t>Today, I am proud to present my comprehensive web engineering project titled: 'Smt. CHM College Next-Gen Enterprise Digital Campus Ecosystem &amp; Self-Service ERP Suite'.</a:t>
            </a:r>
          </a:p>
          <a:p/>
          <a:p>
            <a:r>
              <a:t>This project was specifically conceptualized, designed, and developed to solve real operational, academic, and administrative bottlenecks currently experienced by students, faculty, and administrators at our very own Smt. CHM College under the HSNC Board and University of Mumbai.</a:t>
            </a:r>
          </a:p>
          <a:p/>
          <a:p>
            <a:r>
              <a:t>In this presentation, I will walk you through the problem statement, system architecture, the 24 fully functional interactive modules, novel technical innovations like anti-proxy dynamic QR attendance, our client-side voice AI concierge, and the quantifiable benefits to the institution.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2:</a:t>
            </a:r>
          </a:p>
          <a:p>
            <a:r>
              <a:t>Respected Ma'am, to give you the context behind choosing this project:</a:t>
            </a:r>
          </a:p>
          <a:p>
            <a:r>
              <a:t>Smt. CHM College is one of the premier institutions in Thane district, catering to over 11,000 students. While our academic excellence is reflected in our NAAC 'A' grade with a 3.12 CGPA, our administrative workflows have remained predominantly manual or fragmented across multiple disconnected third-party portals.</a:t>
            </a:r>
          </a:p>
          <a:p/>
          <a:p>
            <a:r>
              <a:t>Students currently stand in long queues outside the administration office for railway concessions, fee challans, and examination hall tickets. Professors spend 10 to 12 minutes of every 50-minute lecture just calling out roll numbers. Furthermore, with the introduction of NEP 2020, teachers need quick ways to balance question papers according to Bloom's Taxonomy.</a:t>
            </a:r>
          </a:p>
          <a:p/>
          <a:p>
            <a:r>
              <a:t>This project was born out of a desire to build a complete, unified campus operating system that solves every single one of these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3:</a:t>
            </a:r>
          </a:p>
          <a:p>
            <a:r>
              <a:t>Here we categorize the core problem statement into four key operational areas:</a:t>
            </a:r>
          </a:p>
          <a:p>
            <a:r>
              <a:t>1. In classroom attendance: 140+ faculty members taking 10 minutes per lecture adds up to over 4,500 teaching hours wasted every single academic year on routine roll-calling alone.</a:t>
            </a:r>
          </a:p>
          <a:p>
            <a:r>
              <a:t>2. In student administration: Issuing a single railway concession slip takes physical queues, verification of monthly passes, and manual stamping. This creates needless friction for both clerks and students.</a:t>
            </a:r>
          </a:p>
          <a:p>
            <a:r>
              <a:t>3. In accreditation: When NAAC peer teams arrive, collating student satisfaction surveys and criterion matrices requires frenetic coordination across 5 faculties.</a:t>
            </a:r>
          </a:p>
          <a:p>
            <a:r>
              <a:t>4. In finance: Many students eligible for government MahaDBT fee concessions miss deadlines due to lack of an eligibility guidance engine.</a:t>
            </a:r>
          </a:p>
          <a:p>
            <a:r>
              <a:t>Our project directly addresses and solves each of these four pain points.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4:</a:t>
            </a:r>
          </a:p>
          <a:p>
            <a:r>
              <a:t>Respected Ma'am, here are our six defined core objectives:</a:t>
            </a:r>
          </a:p>
          <a:p>
            <a:r>
              <a:t>First, to build a complete suite of 23 institutional modules instead of a simple 2-page mockup.</a:t>
            </a:r>
          </a:p>
          <a:p>
            <a:r>
              <a:t>Second, to tackle the proxy problem head-on using a rotating QR HUD projected in classrooms.</a:t>
            </a:r>
          </a:p>
          <a:p>
            <a:r>
              <a:t>Third, to empower students with instant generation of essential documents like Railway Concessions and Hall Tickets.</a:t>
            </a:r>
          </a:p>
          <a:p>
            <a:r>
              <a:t>Fourth, to support NEP 2020 with Bloom's Taxonomy cognitive level mapping for faculty.</a:t>
            </a:r>
          </a:p>
          <a:p>
            <a:r>
              <a:t>Fifth, to incorporate modern AI capabilities through ChandiBot, our voice-enabled conversational concierge.</a:t>
            </a:r>
          </a:p>
          <a:p>
            <a:r>
              <a:t>And sixth, to ensure that even during network dead zones on campus, the PWA service worker allows students to access their digital identity and timetables offline.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5:</a:t>
            </a:r>
          </a:p>
          <a:p>
            <a:r>
              <a:t>Respected Ma'am, let's look at the technical architecture. We made a deliberate engineering choice: instead of relying on bloated frameworks like Angular or React that require massive JavaScript bundles, we engineered this entire platform using pure modern Vanilla HTML5, CSS3 Custom Properties, and ES6+ JavaScript.</a:t>
            </a:r>
          </a:p>
          <a:p/>
          <a:p>
            <a:r>
              <a:t>Why? Because campus networks often have limited bandwidth. With vanilla web technologies, the entire home page loads in under 600 milliseconds, scoring above 95 in Google Lighthouse audits.</a:t>
            </a:r>
          </a:p>
          <a:p/>
          <a:p>
            <a:r>
              <a:t>We also leverage powerful native browser APIs: the Web Speech API allows ChandiBot to speak and listen without paid cloud speech services. The Service Worker provides true PWA offline capability, and the Docker NGINX Alpine container enables instant deployment on campus servers or private clouds.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6:</a:t>
            </a:r>
          </a:p>
          <a:p>
            <a:r>
              <a:t>Respected Ma'am, `portal.html` is the heart of the daily student experience. When a student logs in, they immediately see their circular attendance gauge. It visually warns them if they drop below the mandatory 75% threshold under Mumbai University Ordinance 0.119.</a:t>
            </a:r>
          </a:p>
          <a:p/>
          <a:p>
            <a:r>
              <a:t>With one click, a student can generate their Central Railway student concession pass or Examination Hall Ticket with authentic barcodes, eliminating administrative queues.</a:t>
            </a:r>
          </a:p>
          <a:p/>
          <a:p>
            <a:r>
              <a:t>On the right side of this slide, you see our standout technical novelty: the Classroom Dynamic QR Attendance Projector HUD. A professor projects this on the classroom screen. The QR token rotates every 10 seconds. Even if an absent student receives a photo of the screen on WhatsApp, by the time they scan it, the token has already expired! This provides bulletproof anti-proxy attendance.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7:</a:t>
            </a:r>
          </a:p>
          <a:p>
            <a:r>
              <a:t>Respected Ma'am, here we cover the administrative spine of the college: Admissions, Fees, and Statutory Governance.</a:t>
            </a:r>
          </a:p>
          <a:p>
            <a:r>
              <a:t>In `admission.html`, prospective students complete a guided 4-step wizard that verifies their marks against last year's cutoffs and outputs an official acknowledgment slip.</a:t>
            </a:r>
          </a:p>
          <a:p/>
          <a:p>
            <a:r>
              <a:t>In `fee-payment.html`, we eliminate bank queues through an itemized digital voucher system with dynamic UPI QR codes. Once paid, students instantly download an authenticated e-receipt.</a:t>
            </a:r>
          </a:p>
          <a:p/>
          <a:p>
            <a:r>
              <a:t>In `governance.html`, we ensure 100% legal compliance with the Maharashtra Public Universities Act 2016, providing clear public disclosures for the College Development Committee (CDC), Anti-Ragging squads, Internal Complaints Committee (ICC), and an online Student Grievance Redressal mechanism.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8:</a:t>
            </a:r>
          </a:p>
          <a:p>
            <a:r>
              <a:t>Respected Ma'am, one of the most pedagogically valuable components of this project is our NEP 2020 Bloom's Taxonomy Assessment Generator in `assessment-tools.html`. Under the National Education Policy, exams must evaluate higher-order thinking skills—not just rote memorization.</a:t>
            </a:r>
          </a:p>
          <a:p/>
          <a:p>
            <a:r>
              <a:t>Our tool provides teachers with an interactive radar that shows the cognitive balance across all 6 levels—from L1 Remember to L6 Create—and maps every question directly to Course Outcomes (CO1 to CO4).</a:t>
            </a:r>
          </a:p>
          <a:p/>
          <a:p>
            <a:r>
              <a:t>In addition, `exams.html` and `question-bank.html` provide students with instant marksheet retrieval using their PRN and a 5-year searchable repository of past Mumbai University question papers filtered by department and semester.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9:</a:t>
            </a:r>
          </a:p>
          <a:p>
            <a:r>
              <a:t>Respected Ma'am, NAAC accreditation is the supreme benchmark of college excellence. Smt. CHM College holds an 'A' grade with a 3.12 CGPA. Our `naac-iqac.html` module is engineered to give our Internal Quality Assurance Cell (IQAC) the data telemetry required to leapfrog to an 'A++' grade (3.60+ CGPA).</a:t>
            </a:r>
          </a:p>
          <a:p/>
          <a:p>
            <a:r>
              <a:t>Instead of scrambling for months prior to a Peer Team visit, our system automatically correlates data across all 7 NAAC criteria: from research publications in Criterion 3 to solar power generation in Criterion 7. It also features a live Student Satisfaction Survey (SSS) analytics engine that displays rating distributions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10:</a:t>
            </a:r>
          </a:p>
          <a:p>
            <a:r>
              <a:t>Respected Ma'am, beyond standard academic and administrative features, this project integrates cutting-edge campus life modules:</a:t>
            </a:r>
          </a:p>
          <a:p>
            <a:r>
              <a:t>1. ChandiBot: Our campus AI concierge that speaks and listens using browser-native speech synthesis, providing both English and Marathi support for state compliance.</a:t>
            </a:r>
          </a:p>
          <a:p>
            <a:r>
              <a:t>2. Green Campus Dashboard: Under NAAC Criterion 7, institutions must demonstrate environmental stewardship. Our dashboard tracks our 150 kW rooftop solar plant and 1,20,000-liter rainwater harvesting system in real time.</a:t>
            </a:r>
          </a:p>
          <a:p>
            <a:r>
              <a:t>3. Alumni &amp; Placements: Connects students with over 50,000 alumni across global chapters and live campus recruitment drives.</a:t>
            </a:r>
          </a:p>
          <a:p>
            <a:r>
              <a:t>4. Virtual Campus Tour: Allows prospective students and parents to take an audio-narrated 360-degree tour of our campus facilities.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11:</a:t>
            </a:r>
          </a:p>
          <a:p>
            <a:r>
              <a:t>Respected Ma'am, as a student of S.Y. B.Sc. Data Science, I felt it was essential that this project reflect the analytical and statistical depth of our curriculum.</a:t>
            </a:r>
          </a:p>
          <a:p/>
          <a:p>
            <a:r>
              <a:t>In `analytics.html`, we engineered four client-side machine learning and predictive analytics engines:</a:t>
            </a:r>
          </a:p>
          <a:p>
            <a:r>
              <a:t>1. Ordinance 0.119 Defaulter Predictor: Uses Logistic Sigmoid Regression to predict a student's probability of defaulting weeks in advance. It alerts faculty before a student falls below 75%, allowing timely remedial counseling.</a:t>
            </a:r>
          </a:p>
          <a:p>
            <a:r>
              <a:t>2. SGPA Forecaster: An Ordinary Least Squares (OLS) Multiple Linear Regression model calculating projected semester GPA with a 95% confidence interval based on attendance, midterm tests, and practicals.</a:t>
            </a:r>
          </a:p>
          <a:p>
            <a:r>
              <a:t>3. K-Means Cohort Clustering (k=4): An unsupervised learning algorithm running directly on an interactive HTML5 Canvas that classifies students into four distinct behavioral cohorts—High Performers, Steady Achievers, Inconsistent Spikers, and At-Risk students.</a:t>
            </a:r>
          </a:p>
          <a:p>
            <a:r>
              <a:t>4. Privacy-First Architecture: All ML models compute in the browser with zero cloud server reliance, protecting sensitive student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12:</a:t>
            </a:r>
          </a:p>
          <a:p>
            <a:r>
              <a:t>Respected Ma'am, in response to real-world institutional examination challenges, we engineered Module 23: The AI Exam Hall Seating &amp; Anti-Cheating Room Allocation Engine (`exam-seating.html`).</a:t>
            </a:r>
          </a:p>
          <a:p/>
          <a:p>
            <a:r>
              <a:t>During university examinations, allocating hundreds of students across auditoriums and classrooms while preventing students of the same course from sitting next to each other has historically taken exam clerks 3 to 4 days of manual, error-prone paper planning.</a:t>
            </a:r>
          </a:p>
          <a:p/>
          <a:p>
            <a:r>
              <a:t>Our engine implements an automated 4-stream checkerboard graph-coloring algorithm: it interleaves Data Science, IT, Commerce, and BMS students so that adjacent seat collisions are mathematically reduced to zero.</a:t>
            </a:r>
          </a:p>
          <a:p/>
          <a:p>
            <a:r>
              <a:t>Students can search by Roll Number (such as SYDS-045 for Satnam Singh Vohra) to immediately find their hall and desk (Desk B-14 in Kundnani Hall) with an animated spotlight highlight, while the Chief Conductor can print the University of Mumbai Form 3 Master Muster with a single click.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13:</a:t>
            </a:r>
          </a:p>
          <a:p>
            <a:r>
              <a:t>Respected Ma'am, if an external examiner asks 'What makes this project technically innovative and unique compared to standard college websites?', here are the four definitive technical points:</a:t>
            </a:r>
          </a:p>
          <a:p>
            <a:r>
              <a:t>First: Zero-Dependency Architecture. No node_modules in production. It is blisteringly fast and immune to third-party package vulnerabilities.</a:t>
            </a:r>
          </a:p>
          <a:p>
            <a:r>
              <a:t>Second: Offline-First PWA. Even when cell reception drops in college basements or labs, student ID cards and schedules remain available.</a:t>
            </a:r>
          </a:p>
          <a:p>
            <a:r>
              <a:t>Third: Dynamic Rotating Cryptographic QR attendance, which scientifically solves the proxy attendance issue.</a:t>
            </a:r>
          </a:p>
          <a:p>
            <a:r>
              <a:t>Fourth: Client-Side Voice AI running entirely inside the browser without incurring monthly API costs.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14:</a:t>
            </a:r>
          </a:p>
          <a:p>
            <a:r>
              <a:t>Respected Ma'am, every software system must justify its value proposition. Here is the concrete Return on Investment (ROI):</a:t>
            </a:r>
          </a:p>
          <a:p>
            <a:r>
              <a:t>By replacing expensive third-party ERP licenses, eliminating paper muster registers, stopping physical ID card outsourcing, and eliminating bulk SMS vendor fees, our college saves an estimated ₹18.5 Lakhs every single year.</a:t>
            </a:r>
          </a:p>
          <a:p/>
          <a:p>
            <a:r>
              <a:t>Operationally, over 4,500 hours of active teaching time are reclaimed across 140+ professors. Student administrative queues shrink by 85%, and the college achieves 100% bulletproof compliance with Mumbai University Ordinance 0.119.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15:</a:t>
            </a:r>
          </a:p>
          <a:p>
            <a:r>
              <a:t>Respected Ma'am, rigorous quality assurance was conducted throughout development:</a:t>
            </a:r>
          </a:p>
          <a:p>
            <a:r>
              <a:t>We tested all 24 pages across desktop and mobile devices. In Google Lighthouse audits, the platform scores above 95 in performance, accessibility, best practices, and SEO.</a:t>
            </a:r>
          </a:p>
          <a:p/>
          <a:p>
            <a:r>
              <a:t>For deployment, the project is completely containerized with Docker and NGINX Alpine, featuring gzip compression. It can run either on a local campus server behind the college firewall, or hosted in the cloud via our automated GitHub Actions CI/CD pipeline.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16:</a:t>
            </a:r>
          </a:p>
          <a:p>
            <a:r>
              <a:t>In conclusion, Respected Ma'am:</a:t>
            </a:r>
          </a:p>
          <a:p>
            <a:r>
              <a:t>This capstone project is not just a theoretical prototype. It is a production-ready, 24-module digital campus ecosystem tailored precisely to Smt. CHM College's statutory requirements under the HSNC Board and University of Mumbai.</a:t>
            </a:r>
          </a:p>
          <a:p/>
          <a:p>
            <a:r>
              <a:t>As you can see on the bottom right of the screen, there is an active QR code that links straight to our live cloud deployment on GitHub Pages. Ma'am, you or any faculty member can scan this QR code right now with your phone to experience the live portal in real time.</a:t>
            </a:r>
          </a:p>
          <a:p/>
          <a:p>
            <a:r>
              <a:t>Looking forward, our roadmap includes integration with DigiLocker's Academic Bank of Credits (ABC) and IoT turnstiles.</a:t>
            </a:r>
          </a:p>
          <a:p/>
          <a:p>
            <a:r>
              <a:t>I express my deepest gratitude to you, my Class Teacher, for your continuous guidance throughout this project, and to our HOD and Principal Dr. Kishori Bhagat.</a:t>
            </a:r>
          </a:p>
          <a:p/>
          <a:p>
            <a:r>
              <a:t>I am now delighted to present the live demonstration of the website and answer any questions. Thank you, Ma'am!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731520" y="1463040"/>
            <a:ext cx="7203385" cy="1188720"/>
          </a:xfrm>
          <a:prstGeom prst="rect">
            <a:avLst/>
          </a:prstGeom>
        </p:spPr>
      </p:pic>
      <p:sp>
        <p:nvSpPr>
          <p:cNvPr id="5" name="TextBox 4"/>
          <p:cNvSpPr txBox="1"/>
          <p:nvPr/>
        </p:nvSpPr>
        <p:spPr>
          <a:xfrm>
            <a:off x="2103120" y="1417320"/>
            <a:ext cx="9326880" cy="1280160"/>
          </a:xfrm>
          <a:prstGeom prst="rect">
            <a:avLst/>
          </a:prstGeom>
          <a:noFill/>
        </p:spPr>
        <p:txBody>
          <a:bodyPr wrap="square" lIns="0" rIns="0" tIns="0" bIns="0">
            <a:spAutoFit/>
          </a:bodyPr>
          <a:lstStyle/>
          <a:p>
            <a:pPr>
              <a:defRPr b="1" sz="2000">
                <a:solidFill>
                  <a:srgbClr val="FCE089"/>
                </a:solidFill>
                <a:latin typeface="Arial"/>
              </a:defRPr>
            </a:pPr>
            <a:r>
              <a:t>SMT. CHANDIBHAI HIMATHMAL MANSUKHANI COLLEGE</a:t>
            </a:r>
          </a:p>
          <a:p>
            <a:pPr>
              <a:defRPr sz="1200">
                <a:solidFill>
                  <a:srgbClr val="CBD5E1"/>
                </a:solidFill>
                <a:latin typeface="Calibri"/>
              </a:defRPr>
            </a:pPr>
            <a:r>
              <a:t>Hyderabad (Sind) National Collegiate (HSNC) Board | Affiliated to University of Mumbai</a:t>
            </a:r>
          </a:p>
          <a:p>
            <a:pPr>
              <a:defRPr sz="1100" b="1">
                <a:solidFill>
                  <a:srgbClr val="10B981"/>
                </a:solidFill>
                <a:latin typeface="Calibri"/>
              </a:defRPr>
            </a:pPr>
            <a:r>
              <a:t>NAAC Re-accredited with 'A' Grade (CGPA 3.12)</a:t>
            </a:r>
          </a:p>
        </p:txBody>
      </p:sp>
      <p:sp>
        <p:nvSpPr>
          <p:cNvPr id="6" name="TextBox 5"/>
          <p:cNvSpPr txBox="1"/>
          <p:nvPr/>
        </p:nvSpPr>
        <p:spPr>
          <a:xfrm>
            <a:off x="731520" y="2926080"/>
            <a:ext cx="10728655" cy="1645920"/>
          </a:xfrm>
          <a:prstGeom prst="rect">
            <a:avLst/>
          </a:prstGeom>
          <a:noFill/>
        </p:spPr>
        <p:txBody>
          <a:bodyPr wrap="square" lIns="0" rIns="0" tIns="0" bIns="0">
            <a:spAutoFit/>
          </a:bodyPr>
          <a:lstStyle/>
          <a:p>
            <a:pPr>
              <a:defRPr b="1" sz="3200">
                <a:solidFill>
                  <a:srgbClr val="FFFFFF"/>
                </a:solidFill>
                <a:latin typeface="Arial"/>
              </a:defRPr>
            </a:pPr>
            <a:r>
              <a:t>Next-Gen Enterprise Digital Campus Ecosystem</a:t>
            </a:r>
          </a:p>
          <a:p>
            <a:pPr>
              <a:defRPr b="1" sz="2600">
                <a:solidFill>
                  <a:srgbClr val="D4AF37"/>
                </a:solidFill>
                <a:latin typeface="Arial"/>
              </a:defRPr>
            </a:pPr>
            <a:r>
              <a:t>&amp; Unified Student-Faculty Self-Service ERP Suite</a:t>
            </a:r>
          </a:p>
          <a:p>
            <a:pPr>
              <a:defRPr sz="1300">
                <a:solidFill>
                  <a:srgbClr val="E2E8F0"/>
                </a:solidFill>
                <a:latin typeface="Calibri"/>
              </a:defRPr>
            </a:pPr>
            <a:r>
              <a:t>A modern, NEP 2020 &amp; NAAC-compliant 24-module institutional web platform engineered with Vanilla Web Technologies, Client-side AI Concierge, and Offline PWA architecture.</a:t>
            </a:r>
          </a:p>
        </p:txBody>
      </p:sp>
      <p:sp>
        <p:nvSpPr>
          <p:cNvPr id="7" name="Rounded Rectangle 6"/>
          <p:cNvSpPr/>
          <p:nvPr/>
        </p:nvSpPr>
        <p:spPr>
          <a:xfrm>
            <a:off x="731520" y="4846320"/>
            <a:ext cx="5212080" cy="1463040"/>
          </a:xfrm>
          <a:prstGeom prst="roundRect">
            <a:avLst/>
          </a:prstGeom>
          <a:solidFill>
            <a:srgbClr val="0F233D"/>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937760"/>
            <a:ext cx="4846320" cy="1280160"/>
          </a:xfrm>
          <a:prstGeom prst="rect">
            <a:avLst/>
          </a:prstGeom>
          <a:noFill/>
        </p:spPr>
        <p:txBody>
          <a:bodyPr wrap="square">
            <a:spAutoFit/>
          </a:bodyPr>
          <a:lstStyle/>
          <a:p>
            <a:pPr>
              <a:defRPr b="1" sz="1000">
                <a:solidFill>
                  <a:srgbClr val="D4AF37"/>
                </a:solidFill>
                <a:latin typeface="Arial"/>
              </a:defRPr>
            </a:pPr>
            <a:r>
              <a:t>SUBMITTED BY (STUDENT DETAILS):</a:t>
            </a:r>
          </a:p>
          <a:p>
            <a:pPr>
              <a:defRPr sz="1050">
                <a:solidFill>
                  <a:srgbClr val="FFFFFF"/>
                </a:solidFill>
                <a:latin typeface="Calibri"/>
              </a:defRPr>
            </a:pPr>
            <a:r>
              <a:t>• Student Name: Satnam Singh Vohra</a:t>
            </a:r>
            <a:br/>
            <a:r>
              <a:t>• Roll Number: 45</a:t>
            </a:r>
            <a:br/>
            <a:r>
              <a:t>• Class &amp; Stream: S.Y. B.Sc. (Data Science)</a:t>
            </a:r>
            <a:br/>
            <a:r>
              <a:t>• Academic Session: 2026–2027</a:t>
            </a:r>
          </a:p>
        </p:txBody>
      </p:sp>
      <p:sp>
        <p:nvSpPr>
          <p:cNvPr id="9" name="Rounded Rectangle 8"/>
          <p:cNvSpPr/>
          <p:nvPr/>
        </p:nvSpPr>
        <p:spPr>
          <a:xfrm>
            <a:off x="6217920" y="4846320"/>
            <a:ext cx="5212080" cy="1463040"/>
          </a:xfrm>
          <a:prstGeom prst="roundRect">
            <a:avLst/>
          </a:prstGeom>
          <a:solidFill>
            <a:srgbClr val="0F233D"/>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937760"/>
            <a:ext cx="4846320" cy="1280160"/>
          </a:xfrm>
          <a:prstGeom prst="rect">
            <a:avLst/>
          </a:prstGeom>
          <a:noFill/>
        </p:spPr>
        <p:txBody>
          <a:bodyPr wrap="square">
            <a:spAutoFit/>
          </a:bodyPr>
          <a:lstStyle/>
          <a:p>
            <a:pPr>
              <a:defRPr b="1" sz="1000">
                <a:solidFill>
                  <a:srgbClr val="D4AF37"/>
                </a:solidFill>
                <a:latin typeface="Arial"/>
              </a:defRPr>
            </a:pPr>
            <a:r>
              <a:t>SUBMITTED TO (FACULTY GUIDANCE):</a:t>
            </a:r>
          </a:p>
          <a:p>
            <a:pPr>
              <a:defRPr sz="1050">
                <a:solidFill>
                  <a:srgbClr val="FFFFFF"/>
                </a:solidFill>
                <a:latin typeface="Calibri"/>
              </a:defRPr>
            </a:pPr>
            <a:r>
              <a:t>• Class Teacher &amp; Project Guide</a:t>
            </a:r>
            <a:br/>
            <a:r>
              <a:t>• Department of Data Science &amp; Information Technology</a:t>
            </a:r>
            <a:br/>
            <a:r>
              <a:t>• Smt. CHM College, Ulhasnagar - 421003</a:t>
            </a:r>
            <a:br/>
            <a:r>
              <a:t>• Evaluation Category: Capstone Project &amp; Practical Implementation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CONTEXT &amp; MOTIVATION</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Project Overview &amp; Institutional Background</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463040"/>
            <a:ext cx="4846320" cy="4663440"/>
          </a:xfrm>
          <a:prstGeom prst="rect">
            <a:avLst/>
          </a:prstGeom>
          <a:noFill/>
        </p:spPr>
        <p:txBody>
          <a:bodyPr wrap="square">
            <a:spAutoFit/>
          </a:bodyPr>
          <a:lstStyle/>
          <a:p>
            <a:pPr>
              <a:defRPr b="1" sz="1500">
                <a:solidFill>
                  <a:srgbClr val="071529"/>
                </a:solidFill>
              </a:defRPr>
            </a:pPr>
            <a:r>
              <a:t>🏛 Institutional Profile &amp; Context</a:t>
            </a:r>
          </a:p>
          <a:p>
            <a:pPr>
              <a:defRPr sz="1100">
                <a:solidFill>
                  <a:srgbClr val="0F172A"/>
                </a:solidFill>
                <a:latin typeface="Calibri"/>
              </a:defRPr>
            </a:pPr>
            <a:r>
              <a:t>• Institution: Smt. Chandibhai Himathmal Mansukhani College (CHM College), Ulhasnagar.</a:t>
            </a:r>
          </a:p>
          <a:p>
            <a:pPr>
              <a:defRPr sz="1100">
                <a:solidFill>
                  <a:srgbClr val="0F172A"/>
                </a:solidFill>
                <a:latin typeface="Calibri"/>
              </a:defRPr>
            </a:pPr>
            <a:r>
              <a:t>• Governing Board: Hyderabad (Sind) National Collegiate (HSNC) Board, Mumbai.</a:t>
            </a:r>
          </a:p>
          <a:p>
            <a:pPr>
              <a:defRPr sz="1100">
                <a:solidFill>
                  <a:srgbClr val="0F172A"/>
                </a:solidFill>
                <a:latin typeface="Calibri"/>
              </a:defRPr>
            </a:pPr>
            <a:r>
              <a:t>• University Affiliation: University of Mumbai, catering to over 11,000+ students across Arts, Science, and Commerce faculties.</a:t>
            </a:r>
          </a:p>
          <a:p>
            <a:pPr>
              <a:defRPr sz="1100">
                <a:solidFill>
                  <a:srgbClr val="0F172A"/>
                </a:solidFill>
                <a:latin typeface="Calibri"/>
              </a:defRPr>
            </a:pPr>
            <a:r>
              <a:t>• Accreditation Standard: NAAC Re-accredited with 'A' Grade (CGPA 3.12). Preparing for upcoming Cycle 4 assessment.</a:t>
            </a:r>
          </a:p>
          <a:p>
            <a:pPr>
              <a:defRPr sz="1100">
                <a:solidFill>
                  <a:srgbClr val="0F172A"/>
                </a:solidFill>
                <a:latin typeface="Calibri"/>
              </a:defRPr>
            </a:pPr>
            <a:r>
              <a:t>• Regulatory Environment: Bound by Mumbai University Ordinance 0.119 (strict 75% attendance rule) and Maharashtra Public Universities Act 2016.</a:t>
            </a:r>
          </a:p>
          <a:p>
            <a:pPr>
              <a:defRPr sz="1100">
                <a:solidFill>
                  <a:srgbClr val="0F172A"/>
                </a:solidFill>
                <a:latin typeface="Calibri"/>
              </a:defRPr>
            </a:pPr>
            <a:r>
              <a:t>• Strategic Objective: Modernize fragmented legacy web interfaces into a cohesive, university-grade digital operating system.</a:t>
            </a:r>
          </a:p>
        </p:txBody>
      </p:sp>
      <p:sp>
        <p:nvSpPr>
          <p:cNvPr id="11" name="Rounded Rectangle 10"/>
          <p:cNvSpPr/>
          <p:nvPr/>
        </p:nvSpPr>
        <p:spPr>
          <a:xfrm>
            <a:off x="6217920" y="132588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463040"/>
            <a:ext cx="4846320" cy="4663440"/>
          </a:xfrm>
          <a:prstGeom prst="rect">
            <a:avLst/>
          </a:prstGeom>
          <a:noFill/>
        </p:spPr>
        <p:txBody>
          <a:bodyPr wrap="square">
            <a:spAutoFit/>
          </a:bodyPr>
          <a:lstStyle/>
          <a:p>
            <a:pPr>
              <a:defRPr b="1" sz="1500">
                <a:solidFill>
                  <a:srgbClr val="071529"/>
                </a:solidFill>
              </a:defRPr>
            </a:pPr>
            <a:r>
              <a:t>🎯 Project Motivation &amp; Purpose</a:t>
            </a:r>
          </a:p>
          <a:p>
            <a:pPr>
              <a:defRPr sz="1100">
                <a:solidFill>
                  <a:srgbClr val="0F172A"/>
                </a:solidFill>
                <a:latin typeface="Calibri"/>
              </a:defRPr>
            </a:pPr>
            <a:r>
              <a:t>• Bridging the Digital Divide: Existing college web presence is static and fragmented. Students must physically visit administrative counters for simple tasks like railway concessions or hall tickets.</a:t>
            </a:r>
          </a:p>
          <a:p>
            <a:pPr>
              <a:defRPr sz="1100">
                <a:solidFill>
                  <a:srgbClr val="0F172A"/>
                </a:solidFill>
                <a:latin typeface="Calibri"/>
              </a:defRPr>
            </a:pPr>
            <a:r>
              <a:t>• Combating Attendance Proxy: Paper muster rolls waste 10-12 minutes per lecture and suffer from rampant proxy signing, endangering University 0.119 compliance.</a:t>
            </a:r>
          </a:p>
          <a:p>
            <a:pPr>
              <a:defRPr sz="1100">
                <a:solidFill>
                  <a:srgbClr val="0F172A"/>
                </a:solidFill>
                <a:latin typeface="Calibri"/>
              </a:defRPr>
            </a:pPr>
            <a:r>
              <a:t>• Streamlining NEP 2020 Adoption: Faculty members require automated tools to map assessment questions directly to Bloom's Taxonomy cognitive levels and Course Outcomes (COs).</a:t>
            </a:r>
          </a:p>
          <a:p>
            <a:pPr>
              <a:defRPr sz="1100">
                <a:solidFill>
                  <a:srgbClr val="0F172A"/>
                </a:solidFill>
                <a:latin typeface="Calibri"/>
              </a:defRPr>
            </a:pPr>
            <a:r>
              <a:t>• Empowering Underprivileged Students: Integrated eligibility calculator for MahaDBT scholarships and Sindhi Minority Trust concessions to prevent student dropouts.</a:t>
            </a:r>
          </a:p>
          <a:p>
            <a:pPr>
              <a:defRPr sz="1100">
                <a:solidFill>
                  <a:srgbClr val="0F172A"/>
                </a:solidFill>
                <a:latin typeface="Calibri"/>
              </a:defRPr>
            </a:pPr>
            <a:r>
              <a:t>• Zero-Dependency Speed: Engineered with pure vanilla web standards, ensuring blazing fast load speeds without bulky third-party vendor lock-in.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CURRENT WORKFLOW ANALYSIS</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Problem Statement &amp; Legacy Operational Bottlenecks</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1463039"/>
            <a:ext cx="109728" cy="214884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463039"/>
            <a:ext cx="4663440" cy="2148840"/>
          </a:xfrm>
          <a:prstGeom prst="rect">
            <a:avLst/>
          </a:prstGeom>
          <a:noFill/>
        </p:spPr>
        <p:txBody>
          <a:bodyPr wrap="square">
            <a:spAutoFit/>
          </a:bodyPr>
          <a:lstStyle/>
          <a:p>
            <a:pPr>
              <a:defRPr sz="850" b="1">
                <a:solidFill>
                  <a:srgbClr val="E11D48"/>
                </a:solidFill>
                <a:latin typeface="Arial"/>
              </a:defRPr>
            </a:pPr>
            <a:r>
              <a:t>CLASSROOM ATTENDANCE</a:t>
            </a:r>
          </a:p>
          <a:p>
            <a:pPr>
              <a:defRPr sz="1300" b="1">
                <a:solidFill>
                  <a:srgbClr val="071529"/>
                </a:solidFill>
                <a:latin typeface="Arial"/>
              </a:defRPr>
            </a:pPr>
            <a:r>
              <a:t>1. Paper Attendance &amp; Proxy Signing</a:t>
            </a:r>
          </a:p>
          <a:p>
            <a:pPr>
              <a:defRPr sz="950">
                <a:solidFill>
                  <a:srgbClr val="0F172A"/>
                </a:solidFill>
                <a:latin typeface="Calibri"/>
              </a:defRPr>
            </a:pPr>
            <a:r>
              <a:t>• Manual paper muster calling consumes 20-25% of active lecture time.</a:t>
            </a:r>
            <a:br/>
            <a:r>
              <a:t>• Widespread proxy attendance distorts true student participation.</a:t>
            </a:r>
            <a:br/>
            <a:r>
              <a:t>• Term-end tallying takes weeks, causing surprise defaulter lists and student distress under Mumbai University Ordinance 0.119.</a:t>
            </a:r>
          </a:p>
        </p:txBody>
      </p:sp>
      <p:sp>
        <p:nvSpPr>
          <p:cNvPr id="12" name="Rounded Rectangle 11"/>
          <p:cNvSpPr/>
          <p:nvPr/>
        </p:nvSpPr>
        <p:spPr>
          <a:xfrm>
            <a:off x="6217920" y="132588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463039"/>
            <a:ext cx="109728" cy="21488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463039"/>
            <a:ext cx="4663440" cy="2148840"/>
          </a:xfrm>
          <a:prstGeom prst="rect">
            <a:avLst/>
          </a:prstGeom>
          <a:noFill/>
        </p:spPr>
        <p:txBody>
          <a:bodyPr wrap="square">
            <a:spAutoFit/>
          </a:bodyPr>
          <a:lstStyle/>
          <a:p>
            <a:pPr>
              <a:defRPr sz="850" b="1">
                <a:solidFill>
                  <a:srgbClr val="2563EB"/>
                </a:solidFill>
                <a:latin typeface="Arial"/>
              </a:defRPr>
            </a:pPr>
            <a:r>
              <a:t>STUDENT SERVICES &amp; CERTIFICATES</a:t>
            </a:r>
          </a:p>
          <a:p>
            <a:pPr>
              <a:defRPr sz="1300" b="1">
                <a:solidFill>
                  <a:srgbClr val="071529"/>
                </a:solidFill>
                <a:latin typeface="Arial"/>
              </a:defRPr>
            </a:pPr>
            <a:r>
              <a:t>2. Administrative Counter Friction</a:t>
            </a:r>
          </a:p>
          <a:p>
            <a:pPr>
              <a:defRPr sz="950">
                <a:solidFill>
                  <a:srgbClr val="0F172A"/>
                </a:solidFill>
                <a:latin typeface="Calibri"/>
              </a:defRPr>
            </a:pPr>
            <a:r>
              <a:t>• Physical application queues for Central Railway concessions and bonafides.</a:t>
            </a:r>
            <a:br/>
            <a:r>
              <a:t>• Risk of manual typographical errors on hand-typed certificates.</a:t>
            </a:r>
            <a:br/>
            <a:r>
              <a:t>• Delays in issuing examination hall tickets and admit cards before finals.</a:t>
            </a:r>
          </a:p>
        </p:txBody>
      </p:sp>
      <p:sp>
        <p:nvSpPr>
          <p:cNvPr id="15" name="Rounded Rectangle 14"/>
          <p:cNvSpPr/>
          <p:nvPr/>
        </p:nvSpPr>
        <p:spPr>
          <a:xfrm>
            <a:off x="731520" y="393192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4069080"/>
            <a:ext cx="109728" cy="21488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069080"/>
            <a:ext cx="4663440" cy="2148840"/>
          </a:xfrm>
          <a:prstGeom prst="rect">
            <a:avLst/>
          </a:prstGeom>
          <a:noFill/>
        </p:spPr>
        <p:txBody>
          <a:bodyPr wrap="square">
            <a:spAutoFit/>
          </a:bodyPr>
          <a:lstStyle/>
          <a:p>
            <a:pPr>
              <a:defRPr sz="850" b="1">
                <a:solidFill>
                  <a:srgbClr val="0D9488"/>
                </a:solidFill>
                <a:latin typeface="Arial"/>
              </a:defRPr>
            </a:pPr>
            <a:r>
              <a:t>FACULTY &amp; ACCREDITATION</a:t>
            </a:r>
          </a:p>
          <a:p>
            <a:pPr>
              <a:defRPr sz="1300" b="1">
                <a:solidFill>
                  <a:srgbClr val="071529"/>
                </a:solidFill>
                <a:latin typeface="Arial"/>
              </a:defRPr>
            </a:pPr>
            <a:r>
              <a:t>3. NEP 2020 &amp; NAAC Audit Stress</a:t>
            </a:r>
          </a:p>
          <a:p>
            <a:pPr>
              <a:defRPr sz="950">
                <a:solidFill>
                  <a:srgbClr val="0F172A"/>
                </a:solidFill>
                <a:latin typeface="Calibri"/>
              </a:defRPr>
            </a:pPr>
            <a:r>
              <a:t>• Difficult to track Course Outcomes (CO1-CO4) manually on question papers.</a:t>
            </a:r>
            <a:br/>
            <a:r>
              <a:t>• Departmental data is isolated in spreadsheets across science, arts, and commerce.</a:t>
            </a:r>
            <a:br/>
            <a:r>
              <a:t>• Preparing Self-Study Reports (SSR) for NAAC Criteria 1 to 7 requires months of manual data consolidation.</a:t>
            </a:r>
          </a:p>
        </p:txBody>
      </p:sp>
      <p:sp>
        <p:nvSpPr>
          <p:cNvPr id="18" name="Rounded Rectangle 17"/>
          <p:cNvSpPr/>
          <p:nvPr/>
        </p:nvSpPr>
        <p:spPr>
          <a:xfrm>
            <a:off x="6217920" y="393192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55080" y="4069080"/>
            <a:ext cx="109728" cy="2148840"/>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069080"/>
            <a:ext cx="4663440" cy="2148840"/>
          </a:xfrm>
          <a:prstGeom prst="rect">
            <a:avLst/>
          </a:prstGeom>
          <a:noFill/>
        </p:spPr>
        <p:txBody>
          <a:bodyPr wrap="square">
            <a:spAutoFit/>
          </a:bodyPr>
          <a:lstStyle/>
          <a:p>
            <a:pPr>
              <a:defRPr sz="850" b="1">
                <a:solidFill>
                  <a:srgbClr val="D4AF37"/>
                </a:solidFill>
                <a:latin typeface="Arial"/>
              </a:defRPr>
            </a:pPr>
            <a:r>
              <a:t>FINANCIAL OPERATIONS</a:t>
            </a:r>
          </a:p>
          <a:p>
            <a:pPr>
              <a:defRPr sz="1300" b="1">
                <a:solidFill>
                  <a:srgbClr val="071529"/>
                </a:solidFill>
                <a:latin typeface="Arial"/>
              </a:defRPr>
            </a:pPr>
            <a:r>
              <a:t>4. Fragmented Fee &amp; Scholarship Channels</a:t>
            </a:r>
          </a:p>
          <a:p>
            <a:pPr>
              <a:defRPr sz="950">
                <a:solidFill>
                  <a:srgbClr val="0F172A"/>
                </a:solidFill>
                <a:latin typeface="Calibri"/>
              </a:defRPr>
            </a:pPr>
            <a:r>
              <a:t>• Offline bank challans and lack of real-time UPI reconciliation.</a:t>
            </a:r>
            <a:br/>
            <a:r>
              <a:t>• Students frequently miss government MahaDBT scholarship deadlines.</a:t>
            </a:r>
            <a:br/>
            <a:r>
              <a:t>• No centralized transparent digital ledger for students and parents to view itemized tuition, laboratory, and library fees.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GOALS &amp; SPECIFICATIONS</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Project Objectives &amp; Technical Scope</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107286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508760"/>
            <a:ext cx="10149840" cy="4572000"/>
          </a:xfrm>
          <a:prstGeom prst="rect">
            <a:avLst/>
          </a:prstGeom>
          <a:noFill/>
        </p:spPr>
        <p:txBody>
          <a:bodyPr wrap="square">
            <a:spAutoFit/>
          </a:bodyPr>
          <a:lstStyle/>
          <a:p>
            <a:pPr>
              <a:defRPr b="1" sz="1600">
                <a:solidFill>
                  <a:srgbClr val="071529"/>
                </a:solidFill>
              </a:defRPr>
            </a:pPr>
            <a:r>
              <a:t>🎯 Core Project Deliverables &amp; Research Objectives</a:t>
            </a:r>
          </a:p>
          <a:p>
            <a:pPr>
              <a:defRPr b="1" sz="1100">
                <a:solidFill>
                  <a:srgbClr val="2563EB"/>
                </a:solidFill>
                <a:latin typeface="Arial"/>
              </a:defRPr>
            </a:pPr>
            <a:r>
              <a:t>✔ 1. Deliver a Unified 23-Module Campus Web Ecosystem: </a:t>
            </a:r>
          </a:p>
          <a:p>
            <a:pPr>
              <a:defRPr sz="1050">
                <a:solidFill>
                  <a:srgbClr val="0F172A"/>
                </a:solidFill>
                <a:latin typeface="Calibri"/>
              </a:defRPr>
            </a:pPr>
            <a:r>
              <a:t>    Eliminate disparate portals by consolidating admissions, examinations, student ERP, fee management, alumni, placements, and governance under a cohesive user interface.</a:t>
            </a:r>
          </a:p>
          <a:p>
            <a:pPr>
              <a:defRPr b="1" sz="1100">
                <a:solidFill>
                  <a:srgbClr val="2563EB"/>
                </a:solidFill>
                <a:latin typeface="Arial"/>
              </a:defRPr>
            </a:pPr>
            <a:r>
              <a:t>✔ 2. Engineer Anti-Proxy Dynamic QR Attendance (Projector HUD): </a:t>
            </a:r>
          </a:p>
          <a:p>
            <a:pPr>
              <a:defRPr sz="1050">
                <a:solidFill>
                  <a:srgbClr val="0F172A"/>
                </a:solidFill>
                <a:latin typeface="Calibri"/>
              </a:defRPr>
            </a:pPr>
            <a:r>
              <a:t>    Design an innovative classroom projector HUD generating 10-second rotating cryptographic QR tokens that students scan via mobile devices to register authenticated attendance.</a:t>
            </a:r>
          </a:p>
          <a:p>
            <a:pPr>
              <a:defRPr b="1" sz="1100">
                <a:solidFill>
                  <a:srgbClr val="2563EB"/>
                </a:solidFill>
                <a:latin typeface="Arial"/>
              </a:defRPr>
            </a:pPr>
            <a:r>
              <a:t>✔ 3. Automate Student Self-Service Document Generation: </a:t>
            </a:r>
          </a:p>
          <a:p>
            <a:pPr>
              <a:defRPr sz="1050">
                <a:solidFill>
                  <a:srgbClr val="0F172A"/>
                </a:solidFill>
                <a:latin typeface="Calibri"/>
              </a:defRPr>
            </a:pPr>
            <a:r>
              <a:t>    Provide instant client-side generation of Central Railway concession vouchers, 3D flip digital smart ID cards, and semester hall tickets with printable cryptographic barcodes.</a:t>
            </a:r>
          </a:p>
          <a:p>
            <a:pPr>
              <a:defRPr b="1" sz="1100">
                <a:solidFill>
                  <a:srgbClr val="2563EB"/>
                </a:solidFill>
                <a:latin typeface="Arial"/>
              </a:defRPr>
            </a:pPr>
            <a:r>
              <a:t>✔ 4. Implement NEP 2020 Bloom's Taxonomy Assessment Authoring: </a:t>
            </a:r>
          </a:p>
          <a:p>
            <a:pPr>
              <a:defRPr sz="1050">
                <a:solidFill>
                  <a:srgbClr val="0F172A"/>
                </a:solidFill>
                <a:latin typeface="Calibri"/>
              </a:defRPr>
            </a:pPr>
            <a:r>
              <a:t>    Build an interactive question generator with a 6-tier cognitive distribution radar (L1 Remember to L6 Create) and Course Outcome (CO1-CO4) compliance matrix.</a:t>
            </a:r>
          </a:p>
          <a:p>
            <a:pPr>
              <a:defRPr b="1" sz="1100">
                <a:solidFill>
                  <a:srgbClr val="2563EB"/>
                </a:solidFill>
                <a:latin typeface="Arial"/>
              </a:defRPr>
            </a:pPr>
            <a:r>
              <a:t>✔ 5. Build Autonomous Voice-Enabled Campus Concierge (ChandiBot): </a:t>
            </a:r>
          </a:p>
          <a:p>
            <a:pPr>
              <a:defRPr sz="1050">
                <a:solidFill>
                  <a:srgbClr val="0F172A"/>
                </a:solidFill>
                <a:latin typeface="Calibri"/>
              </a:defRPr>
            </a:pPr>
            <a:r>
              <a:t>    Integrate client-side Web Speech Synthesis and Speech Recognition to provide hands-free voice guidance and inquiry resolution with regional Marathi language toggling.</a:t>
            </a:r>
          </a:p>
          <a:p>
            <a:pPr>
              <a:defRPr b="1" sz="1100">
                <a:solidFill>
                  <a:srgbClr val="2563EB"/>
                </a:solidFill>
                <a:latin typeface="Arial"/>
              </a:defRPr>
            </a:pPr>
            <a:r>
              <a:t>✔ 6. Deploy Offline-First Progressive Web App (PWA) Engine: </a:t>
            </a:r>
          </a:p>
          <a:p>
            <a:pPr>
              <a:defRPr sz="1050">
                <a:solidFill>
                  <a:srgbClr val="0F172A"/>
                </a:solidFill>
                <a:latin typeface="Calibri"/>
              </a:defRPr>
            </a:pPr>
            <a:r>
              <a:t>    Implement service worker caching strategies (`sw.js`) allowing students to view ID cards, timetables, and campus contacts with zero internet connectivity.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TECHNICAL ARCHITECTURE</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System Architecture &amp; High-Performance Technology Stack</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34134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25880"/>
            <a:ext cx="3413455" cy="5486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71600"/>
            <a:ext cx="3413455" cy="365760"/>
          </a:xfrm>
          <a:prstGeom prst="rect">
            <a:avLst/>
          </a:prstGeom>
          <a:noFill/>
        </p:spPr>
        <p:txBody>
          <a:bodyPr wrap="none" lIns="0" rIns="0" tIns="0" bIns="0">
            <a:spAutoFit/>
          </a:bodyPr>
          <a:lstStyle/>
          <a:p>
            <a:pPr algn="ctr">
              <a:defRPr b="1" sz="1100">
                <a:solidFill>
                  <a:srgbClr val="FFFFFF"/>
                </a:solidFill>
                <a:latin typeface="Arial"/>
              </a:defRPr>
            </a:pPr>
            <a:r>
              <a:t>FRONTEND &amp; UI DESIGN</a:t>
            </a:r>
          </a:p>
        </p:txBody>
      </p:sp>
      <p:sp>
        <p:nvSpPr>
          <p:cNvPr id="12" name="TextBox 11"/>
          <p:cNvSpPr txBox="1"/>
          <p:nvPr/>
        </p:nvSpPr>
        <p:spPr>
          <a:xfrm>
            <a:off x="914400" y="2011680"/>
            <a:ext cx="3047695" cy="4114800"/>
          </a:xfrm>
          <a:prstGeom prst="rect">
            <a:avLst/>
          </a:prstGeom>
          <a:noFill/>
        </p:spPr>
        <p:txBody>
          <a:bodyPr wrap="square" lIns="0" rIns="0" tIns="0" bIns="0">
            <a:spAutoFit/>
          </a:bodyPr>
          <a:lstStyle/>
          <a:p/>
          <a:p>
            <a:pPr>
              <a:defRPr b="1" sz="950">
                <a:solidFill>
                  <a:srgbClr val="071529"/>
                </a:solidFill>
                <a:latin typeface="Arial"/>
              </a:defRPr>
            </a:pPr>
            <a:r>
              <a:t>• HTML5 Semantic Architecture: </a:t>
            </a:r>
          </a:p>
          <a:p>
            <a:pPr>
              <a:defRPr sz="900">
                <a:solidFill>
                  <a:srgbClr val="0F172A"/>
                </a:solidFill>
                <a:latin typeface="Calibri"/>
              </a:defRPr>
            </a:pPr>
            <a:r>
              <a:t>   Clean, accessible DOM structure across 24 pages with OpenGraph &amp; SEO tags.</a:t>
            </a:r>
          </a:p>
          <a:p>
            <a:pPr>
              <a:defRPr b="1" sz="950">
                <a:solidFill>
                  <a:srgbClr val="071529"/>
                </a:solidFill>
                <a:latin typeface="Arial"/>
              </a:defRPr>
            </a:pPr>
            <a:r>
              <a:t>• Vanilla CSS3 Tokens: </a:t>
            </a:r>
          </a:p>
          <a:p>
            <a:pPr>
              <a:defRPr sz="900">
                <a:solidFill>
                  <a:srgbClr val="0F172A"/>
                </a:solidFill>
                <a:latin typeface="Calibri"/>
              </a:defRPr>
            </a:pPr>
            <a:r>
              <a:t>   Custom property design system with dark navy glassmorphism, responsive CSS grid, and flexbox.</a:t>
            </a:r>
          </a:p>
          <a:p>
            <a:pPr>
              <a:defRPr b="1" sz="950">
                <a:solidFill>
                  <a:srgbClr val="071529"/>
                </a:solidFill>
                <a:latin typeface="Arial"/>
              </a:defRPr>
            </a:pPr>
            <a:r>
              <a:t>• Typography: </a:t>
            </a:r>
          </a:p>
          <a:p>
            <a:pPr>
              <a:defRPr sz="900">
                <a:solidFill>
                  <a:srgbClr val="0F172A"/>
                </a:solidFill>
                <a:latin typeface="Calibri"/>
              </a:defRPr>
            </a:pPr>
            <a:r>
              <a:t>   Google Fonts ('Cinzel' for heritage branding, 'Plus Jakarta Sans' for readable UI, 'JetBrains Mono' for codes).</a:t>
            </a:r>
          </a:p>
          <a:p>
            <a:pPr>
              <a:defRPr b="1" sz="950">
                <a:solidFill>
                  <a:srgbClr val="071529"/>
                </a:solidFill>
                <a:latin typeface="Arial"/>
              </a:defRPr>
            </a:pPr>
            <a:r>
              <a:t>• Vector Assets: </a:t>
            </a:r>
          </a:p>
          <a:p>
            <a:pPr>
              <a:defRPr sz="900">
                <a:solidFill>
                  <a:srgbClr val="0F172A"/>
                </a:solidFill>
                <a:latin typeface="Calibri"/>
              </a:defRPr>
            </a:pPr>
            <a:r>
              <a:t>   Font Awesome 6.4.0 icons and inline scalable vector graphics (SVG) for attendance dials.</a:t>
            </a:r>
          </a:p>
        </p:txBody>
      </p:sp>
      <p:sp>
        <p:nvSpPr>
          <p:cNvPr id="13" name="Rounded Rectangle 12"/>
          <p:cNvSpPr/>
          <p:nvPr/>
        </p:nvSpPr>
        <p:spPr>
          <a:xfrm>
            <a:off x="4389120" y="1325880"/>
            <a:ext cx="34134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325880"/>
            <a:ext cx="3413455"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371600"/>
            <a:ext cx="3413455" cy="365760"/>
          </a:xfrm>
          <a:prstGeom prst="rect">
            <a:avLst/>
          </a:prstGeom>
          <a:noFill/>
        </p:spPr>
        <p:txBody>
          <a:bodyPr wrap="none" lIns="0" rIns="0" tIns="0" bIns="0">
            <a:spAutoFit/>
          </a:bodyPr>
          <a:lstStyle/>
          <a:p>
            <a:pPr algn="ctr">
              <a:defRPr b="1" sz="1100">
                <a:solidFill>
                  <a:srgbClr val="FFFFFF"/>
                </a:solidFill>
                <a:latin typeface="Arial"/>
              </a:defRPr>
            </a:pPr>
            <a:r>
              <a:t>CLIENT LOGIC &amp; WEB APIS</a:t>
            </a:r>
          </a:p>
        </p:txBody>
      </p:sp>
      <p:sp>
        <p:nvSpPr>
          <p:cNvPr id="16" name="TextBox 15"/>
          <p:cNvSpPr txBox="1"/>
          <p:nvPr/>
        </p:nvSpPr>
        <p:spPr>
          <a:xfrm>
            <a:off x="4572000" y="2011680"/>
            <a:ext cx="3047695" cy="4114800"/>
          </a:xfrm>
          <a:prstGeom prst="rect">
            <a:avLst/>
          </a:prstGeom>
          <a:noFill/>
        </p:spPr>
        <p:txBody>
          <a:bodyPr wrap="square" lIns="0" rIns="0" tIns="0" bIns="0">
            <a:spAutoFit/>
          </a:bodyPr>
          <a:lstStyle/>
          <a:p/>
          <a:p>
            <a:pPr>
              <a:defRPr b="1" sz="950">
                <a:solidFill>
                  <a:srgbClr val="071529"/>
                </a:solidFill>
                <a:latin typeface="Arial"/>
              </a:defRPr>
            </a:pPr>
            <a:r>
              <a:t>• Vanilla JavaScript (ES6+): </a:t>
            </a:r>
          </a:p>
          <a:p>
            <a:pPr>
              <a:defRPr sz="900">
                <a:solidFill>
                  <a:srgbClr val="0F172A"/>
                </a:solidFill>
                <a:latin typeface="Calibri"/>
              </a:defRPr>
            </a:pPr>
            <a:r>
              <a:t>   Modular, event-driven client logic with zero heavy runtime overhead (no bulky frameworks).</a:t>
            </a:r>
          </a:p>
          <a:p>
            <a:pPr>
              <a:defRPr b="1" sz="950">
                <a:solidFill>
                  <a:srgbClr val="071529"/>
                </a:solidFill>
                <a:latin typeface="Arial"/>
              </a:defRPr>
            </a:pPr>
            <a:r>
              <a:t>• Web Speech API: </a:t>
            </a:r>
          </a:p>
          <a:p>
            <a:pPr>
              <a:defRPr sz="900">
                <a:solidFill>
                  <a:srgbClr val="0F172A"/>
                </a:solidFill>
                <a:latin typeface="Calibri"/>
              </a:defRPr>
            </a:pPr>
            <a:r>
              <a:t>   Native browser SpeechSynthesis &amp; SpeechRecognition powering ChandiBot voice assistant.</a:t>
            </a:r>
          </a:p>
          <a:p>
            <a:pPr>
              <a:defRPr b="1" sz="950">
                <a:solidFill>
                  <a:srgbClr val="071529"/>
                </a:solidFill>
                <a:latin typeface="Arial"/>
              </a:defRPr>
            </a:pPr>
            <a:r>
              <a:t>• Canvas 2D Rendering: </a:t>
            </a:r>
          </a:p>
          <a:p>
            <a:pPr>
              <a:defRPr sz="900">
                <a:solidFill>
                  <a:srgbClr val="0F172A"/>
                </a:solidFill>
                <a:latin typeface="Calibri"/>
              </a:defRPr>
            </a:pPr>
            <a:r>
              <a:t>   Campus hotspot blueprints and dynamic QR token animation engines.</a:t>
            </a:r>
          </a:p>
          <a:p>
            <a:pPr>
              <a:defRPr b="1" sz="950">
                <a:solidFill>
                  <a:srgbClr val="071529"/>
                </a:solidFill>
                <a:latin typeface="Arial"/>
              </a:defRPr>
            </a:pPr>
            <a:r>
              <a:t>• LocalStorage &amp; Session State: </a:t>
            </a:r>
          </a:p>
          <a:p>
            <a:pPr>
              <a:defRPr sz="900">
                <a:solidFill>
                  <a:srgbClr val="0F172A"/>
                </a:solidFill>
                <a:latin typeface="Calibri"/>
              </a:defRPr>
            </a:pPr>
            <a:r>
              <a:t>   Client-side persistence for student preferences, attendance logs, and language toggles.</a:t>
            </a:r>
          </a:p>
        </p:txBody>
      </p:sp>
      <p:sp>
        <p:nvSpPr>
          <p:cNvPr id="17" name="Rounded Rectangle 16"/>
          <p:cNvSpPr/>
          <p:nvPr/>
        </p:nvSpPr>
        <p:spPr>
          <a:xfrm>
            <a:off x="8046720" y="1325880"/>
            <a:ext cx="34134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325880"/>
            <a:ext cx="3413455"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1371600"/>
            <a:ext cx="3413455" cy="365760"/>
          </a:xfrm>
          <a:prstGeom prst="rect">
            <a:avLst/>
          </a:prstGeom>
          <a:noFill/>
        </p:spPr>
        <p:txBody>
          <a:bodyPr wrap="none" lIns="0" rIns="0" tIns="0" bIns="0">
            <a:spAutoFit/>
          </a:bodyPr>
          <a:lstStyle/>
          <a:p>
            <a:pPr algn="ctr">
              <a:defRPr b="1" sz="1100">
                <a:solidFill>
                  <a:srgbClr val="FFFFFF"/>
                </a:solidFill>
                <a:latin typeface="Arial"/>
              </a:defRPr>
            </a:pPr>
            <a:r>
              <a:t>PWA, DEVOPS &amp; SECURITY</a:t>
            </a:r>
          </a:p>
        </p:txBody>
      </p:sp>
      <p:sp>
        <p:nvSpPr>
          <p:cNvPr id="20" name="TextBox 19"/>
          <p:cNvSpPr txBox="1"/>
          <p:nvPr/>
        </p:nvSpPr>
        <p:spPr>
          <a:xfrm>
            <a:off x="8229600" y="2011680"/>
            <a:ext cx="3047695" cy="4114800"/>
          </a:xfrm>
          <a:prstGeom prst="rect">
            <a:avLst/>
          </a:prstGeom>
          <a:noFill/>
        </p:spPr>
        <p:txBody>
          <a:bodyPr wrap="square" lIns="0" rIns="0" tIns="0" bIns="0">
            <a:spAutoFit/>
          </a:bodyPr>
          <a:lstStyle/>
          <a:p/>
          <a:p>
            <a:pPr>
              <a:defRPr b="1" sz="950">
                <a:solidFill>
                  <a:srgbClr val="071529"/>
                </a:solidFill>
                <a:latin typeface="Arial"/>
              </a:defRPr>
            </a:pPr>
            <a:r>
              <a:t>• Service Worker (`sw.js`): </a:t>
            </a:r>
          </a:p>
          <a:p>
            <a:pPr>
              <a:defRPr sz="900">
                <a:solidFill>
                  <a:srgbClr val="0F172A"/>
                </a:solidFill>
                <a:latin typeface="Calibri"/>
              </a:defRPr>
            </a:pPr>
            <a:r>
              <a:t>   Offline caching with Cache-First &amp; Stale-While-Revalidate strategies for static assets.</a:t>
            </a:r>
          </a:p>
          <a:p>
            <a:pPr>
              <a:defRPr b="1" sz="950">
                <a:solidFill>
                  <a:srgbClr val="071529"/>
                </a:solidFill>
                <a:latin typeface="Arial"/>
              </a:defRPr>
            </a:pPr>
            <a:r>
              <a:t>• Web App Manifest (`manifest.json`): </a:t>
            </a:r>
          </a:p>
          <a:p>
            <a:pPr>
              <a:defRPr sz="900">
                <a:solidFill>
                  <a:srgbClr val="0F172A"/>
                </a:solidFill>
                <a:latin typeface="Calibri"/>
              </a:defRPr>
            </a:pPr>
            <a:r>
              <a:t>   Full installability on Android, iOS, Windows, and macOS with native app feel.</a:t>
            </a:r>
          </a:p>
          <a:p>
            <a:pPr>
              <a:defRPr b="1" sz="950">
                <a:solidFill>
                  <a:srgbClr val="071529"/>
                </a:solidFill>
                <a:latin typeface="Arial"/>
              </a:defRPr>
            </a:pPr>
            <a:r>
              <a:t>• Docker &amp; NGINX Alpine: </a:t>
            </a:r>
          </a:p>
          <a:p>
            <a:pPr>
              <a:defRPr sz="900">
                <a:solidFill>
                  <a:srgbClr val="0F172A"/>
                </a:solidFill>
                <a:latin typeface="Calibri"/>
              </a:defRPr>
            </a:pPr>
            <a:r>
              <a:t>   Production containerization with multi-stage build, gzip compression, and security headers.</a:t>
            </a:r>
          </a:p>
          <a:p>
            <a:pPr>
              <a:defRPr b="1" sz="950">
                <a:solidFill>
                  <a:srgbClr val="071529"/>
                </a:solidFill>
                <a:latin typeface="Arial"/>
              </a:defRPr>
            </a:pPr>
            <a:r>
              <a:t>• Automated CI/CD: </a:t>
            </a:r>
          </a:p>
          <a:p>
            <a:pPr>
              <a:defRPr sz="900">
                <a:solidFill>
                  <a:srgbClr val="0F172A"/>
                </a:solidFill>
                <a:latin typeface="Calibri"/>
              </a:defRPr>
            </a:pPr>
            <a:r>
              <a:t>   GitHub Actions workflow validating all 24 HTML files and pushing live to GitHub Pages.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CORE MODULE DEEP-DIVE</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Unified Student &amp; Faculty ERP Suite (`portal.html`)</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59436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463040"/>
            <a:ext cx="5577840" cy="4663440"/>
          </a:xfrm>
          <a:prstGeom prst="rect">
            <a:avLst/>
          </a:prstGeom>
          <a:noFill/>
        </p:spPr>
        <p:txBody>
          <a:bodyPr wrap="square">
            <a:spAutoFit/>
          </a:bodyPr>
          <a:lstStyle/>
          <a:p>
            <a:pPr>
              <a:defRPr b="1" sz="1400">
                <a:solidFill>
                  <a:srgbClr val="071529"/>
                </a:solidFill>
              </a:defRPr>
            </a:pPr>
            <a:r>
              <a:t>📱 Student Self-Service Features</a:t>
            </a:r>
          </a:p>
          <a:p>
            <a:pPr>
              <a:defRPr b="1" sz="1000">
                <a:solidFill>
                  <a:srgbClr val="2563EB"/>
                </a:solidFill>
                <a:latin typeface="Arial"/>
              </a:defRPr>
            </a:pPr>
            <a:r>
              <a:t>• SVG Circular Attendance Gauge: </a:t>
            </a:r>
          </a:p>
          <a:p>
            <a:pPr>
              <a:defRPr sz="950">
                <a:solidFill>
                  <a:srgbClr val="0F172A"/>
                </a:solidFill>
                <a:latin typeface="Calibri"/>
              </a:defRPr>
            </a:pPr>
            <a:r>
              <a:t>   Real-time circular progress ring displaying active attendance percentage (e.g., 86.4%) with automated green/yellow/red status indicators relative to Mumbai University's 75% threshold.</a:t>
            </a:r>
          </a:p>
          <a:p>
            <a:pPr>
              <a:defRPr b="1" sz="1000">
                <a:solidFill>
                  <a:srgbClr val="2563EB"/>
                </a:solidFill>
                <a:latin typeface="Arial"/>
              </a:defRPr>
            </a:pPr>
            <a:r>
              <a:t>• 3D Interactive Flip Smart ID Card: </a:t>
            </a:r>
          </a:p>
          <a:p>
            <a:pPr>
              <a:defRPr sz="950">
                <a:solidFill>
                  <a:srgbClr val="0F172A"/>
                </a:solidFill>
                <a:latin typeface="Calibri"/>
              </a:defRPr>
            </a:pPr>
            <a:r>
              <a:t>   CSS 3D transform card with student PRN, barcode scanner simulation, stream badge, and instant digital copy download.</a:t>
            </a:r>
          </a:p>
          <a:p>
            <a:pPr>
              <a:defRPr b="1" sz="1000">
                <a:solidFill>
                  <a:srgbClr val="2563EB"/>
                </a:solidFill>
                <a:latin typeface="Arial"/>
              </a:defRPr>
            </a:pPr>
            <a:r>
              <a:t>• Central Railway Concession Generator: </a:t>
            </a:r>
          </a:p>
          <a:p>
            <a:pPr>
              <a:defRPr sz="950">
                <a:solidFill>
                  <a:srgbClr val="0F172A"/>
                </a:solidFill>
                <a:latin typeface="Calibri"/>
              </a:defRPr>
            </a:pPr>
            <a:r>
              <a:t>   Automated calculation of student concession validity (Monthly/Quarterly) between Ulhasnagar / Kalyan and CST/Thane stations, producing print-ready verified slips.</a:t>
            </a:r>
          </a:p>
          <a:p>
            <a:pPr>
              <a:defRPr b="1" sz="1000">
                <a:solidFill>
                  <a:srgbClr val="2563EB"/>
                </a:solidFill>
                <a:latin typeface="Arial"/>
              </a:defRPr>
            </a:pPr>
            <a:r>
              <a:t>• Printable Examination Hall Ticket: </a:t>
            </a:r>
          </a:p>
          <a:p>
            <a:pPr>
              <a:defRPr sz="950">
                <a:solidFill>
                  <a:srgbClr val="0F172A"/>
                </a:solidFill>
                <a:latin typeface="Calibri"/>
              </a:defRPr>
            </a:pPr>
            <a:r>
              <a:t>   Instant seat number allocation, approved subject list, and examination center stamp.</a:t>
            </a:r>
          </a:p>
          <a:p>
            <a:pPr>
              <a:defRPr b="1" sz="1000">
                <a:solidFill>
                  <a:srgbClr val="2563EB"/>
                </a:solidFill>
                <a:latin typeface="Arial"/>
              </a:defRPr>
            </a:pPr>
            <a:r>
              <a:t>• Dynamic NEP 2020 Timetable Matrix: </a:t>
            </a:r>
          </a:p>
          <a:p>
            <a:pPr>
              <a:defRPr sz="950">
                <a:solidFill>
                  <a:srgbClr val="0F172A"/>
                </a:solidFill>
                <a:latin typeface="Calibri"/>
              </a:defRPr>
            </a:pPr>
            <a:r>
              <a:t>   Interactive filterable grid supporting B.Sc IT, CS, B.Com, BMS, Chemistry across FY, SY, TY, division, and day of the week.</a:t>
            </a:r>
          </a:p>
        </p:txBody>
      </p:sp>
      <p:sp>
        <p:nvSpPr>
          <p:cNvPr id="11" name="Rounded Rectangle 10"/>
          <p:cNvSpPr/>
          <p:nvPr/>
        </p:nvSpPr>
        <p:spPr>
          <a:xfrm>
            <a:off x="6858000" y="1325880"/>
            <a:ext cx="4572000" cy="4937760"/>
          </a:xfrm>
          <a:prstGeom prst="roundRect">
            <a:avLst/>
          </a:prstGeom>
          <a:solidFill>
            <a:srgbClr val="0F233D"/>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1508760"/>
            <a:ext cx="4206240" cy="4572000"/>
          </a:xfrm>
          <a:prstGeom prst="rect">
            <a:avLst/>
          </a:prstGeom>
          <a:noFill/>
        </p:spPr>
        <p:txBody>
          <a:bodyPr wrap="square">
            <a:spAutoFit/>
          </a:bodyPr>
          <a:lstStyle/>
          <a:p>
            <a:pPr>
              <a:defRPr b="1" sz="1300">
                <a:solidFill>
                  <a:srgbClr val="D4AF37"/>
                </a:solidFill>
                <a:latin typeface="Arial"/>
              </a:defRPr>
            </a:pPr>
            <a:r>
              <a:t>⚡ NOVEL FEATURE: Anti-Proxy QR Projector HUD</a:t>
            </a:r>
          </a:p>
          <a:p>
            <a:pPr>
              <a:defRPr b="1" sz="1000">
                <a:solidFill>
                  <a:srgbClr val="FCE089"/>
                </a:solidFill>
                <a:latin typeface="Arial"/>
              </a:defRPr>
            </a:pPr>
            <a:r>
              <a:t>▶ The Challenge: </a:t>
            </a:r>
          </a:p>
          <a:p>
            <a:pPr>
              <a:defRPr sz="900">
                <a:solidFill>
                  <a:srgbClr val="FFFFFF"/>
                </a:solidFill>
                <a:latin typeface="Calibri"/>
              </a:defRPr>
            </a:pPr>
            <a:r>
              <a:t>   Traditional static QR codes are easily photographed and shared via WhatsApp to absent friends outside class.</a:t>
            </a:r>
          </a:p>
          <a:p>
            <a:pPr>
              <a:defRPr b="1" sz="1000">
                <a:solidFill>
                  <a:srgbClr val="FCE089"/>
                </a:solidFill>
                <a:latin typeface="Arial"/>
              </a:defRPr>
            </a:pPr>
            <a:r>
              <a:t>▶ The Solution: </a:t>
            </a:r>
          </a:p>
          <a:p>
            <a:pPr>
              <a:defRPr sz="900">
                <a:solidFill>
                  <a:srgbClr val="FFFFFF"/>
                </a:solidFill>
                <a:latin typeface="Calibri"/>
              </a:defRPr>
            </a:pPr>
            <a:r>
              <a:t>   Faculty launch the Projector HUD mode on the classroom smartboard/projector.</a:t>
            </a:r>
          </a:p>
          <a:p>
            <a:pPr>
              <a:defRPr b="1" sz="1000">
                <a:solidFill>
                  <a:srgbClr val="FCE089"/>
                </a:solidFill>
                <a:latin typeface="Arial"/>
              </a:defRPr>
            </a:pPr>
            <a:r>
              <a:t>▶ Rotating Cryptographic Token: </a:t>
            </a:r>
          </a:p>
          <a:p>
            <a:pPr>
              <a:defRPr sz="900">
                <a:solidFill>
                  <a:srgbClr val="FFFFFF"/>
                </a:solidFill>
                <a:latin typeface="Calibri"/>
              </a:defRPr>
            </a:pPr>
            <a:r>
              <a:t>   The QR code regenerates every 10 seconds with an ephemeral timestamped token hash.</a:t>
            </a:r>
          </a:p>
          <a:p>
            <a:pPr>
              <a:defRPr b="1" sz="1000">
                <a:solidFill>
                  <a:srgbClr val="FCE089"/>
                </a:solidFill>
                <a:latin typeface="Arial"/>
              </a:defRPr>
            </a:pPr>
            <a:r>
              <a:t>▶ Live Geo/Radius Verification: </a:t>
            </a:r>
          </a:p>
          <a:p>
            <a:pPr>
              <a:defRPr sz="900">
                <a:solidFill>
                  <a:srgbClr val="FFFFFF"/>
                </a:solidFill>
                <a:latin typeface="Calibri"/>
              </a:defRPr>
            </a:pPr>
            <a:r>
              <a:t>   Only students physically present in the room who scan within the active 10-second window are marked present.</a:t>
            </a:r>
          </a:p>
          <a:p>
            <a:pPr>
              <a:defRPr b="1" sz="1000">
                <a:solidFill>
                  <a:srgbClr val="FCE089"/>
                </a:solidFill>
                <a:latin typeface="Arial"/>
              </a:defRPr>
            </a:pPr>
            <a:r>
              <a:t>▶ Live HUD Counter: </a:t>
            </a:r>
          </a:p>
          <a:p>
            <a:pPr>
              <a:defRPr sz="900">
                <a:solidFill>
                  <a:srgbClr val="FFFFFF"/>
                </a:solidFill>
                <a:latin typeface="Calibri"/>
              </a:defRPr>
            </a:pPr>
            <a:r>
              <a:t>   Displays real-time count of connected students checking in during the lecture.</a:t>
            </a:r>
          </a:p>
          <a:p>
            <a:pPr>
              <a:defRPr b="1" sz="1000">
                <a:solidFill>
                  <a:srgbClr val="FCE089"/>
                </a:solidFill>
                <a:latin typeface="Arial"/>
              </a:defRPr>
            </a:pPr>
            <a:r>
              <a:t>▶ Impact: </a:t>
            </a:r>
          </a:p>
          <a:p>
            <a:pPr>
              <a:defRPr sz="900">
                <a:solidFill>
                  <a:srgbClr val="FFFFFF"/>
                </a:solidFill>
                <a:latin typeface="Calibri"/>
              </a:defRPr>
            </a:pPr>
            <a:r>
              <a:t>   Completely eliminates proxy attendance and saves 10-12 minutes of teacher lecture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ADMINISTRATIVE AUTOMATION</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Paperless Admissions, Smart Fees &amp; E-Governance</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34134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25880"/>
            <a:ext cx="3413455"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71600"/>
            <a:ext cx="3413455" cy="365760"/>
          </a:xfrm>
          <a:prstGeom prst="rect">
            <a:avLst/>
          </a:prstGeom>
          <a:noFill/>
        </p:spPr>
        <p:txBody>
          <a:bodyPr wrap="none" lIns="0" rIns="0" tIns="0" bIns="0">
            <a:spAutoFit/>
          </a:bodyPr>
          <a:lstStyle/>
          <a:p>
            <a:pPr algn="ctr">
              <a:defRPr b="1" sz="1000">
                <a:solidFill>
                  <a:srgbClr val="FFFFFF"/>
                </a:solidFill>
                <a:latin typeface="Arial"/>
              </a:defRPr>
            </a:pPr>
            <a:r>
              <a:t>ONLINE ADMISSION DESK (`ADMISSION.HTML`)</a:t>
            </a:r>
          </a:p>
        </p:txBody>
      </p:sp>
      <p:sp>
        <p:nvSpPr>
          <p:cNvPr id="12" name="TextBox 11"/>
          <p:cNvSpPr txBox="1"/>
          <p:nvPr/>
        </p:nvSpPr>
        <p:spPr>
          <a:xfrm>
            <a:off x="914400" y="2011680"/>
            <a:ext cx="3047695" cy="4114800"/>
          </a:xfrm>
          <a:prstGeom prst="rect">
            <a:avLst/>
          </a:prstGeom>
          <a:noFill/>
        </p:spPr>
        <p:txBody>
          <a:bodyPr wrap="square" lIns="0" rIns="0" tIns="0" bIns="0">
            <a:spAutoFit/>
          </a:bodyPr>
          <a:lstStyle/>
          <a:p/>
          <a:p>
            <a:pPr>
              <a:defRPr b="1" sz="950">
                <a:solidFill>
                  <a:srgbClr val="071529"/>
                </a:solidFill>
                <a:latin typeface="Arial"/>
              </a:defRPr>
            </a:pPr>
            <a:r>
              <a:t>• 4-Step Digital Wizard: </a:t>
            </a:r>
          </a:p>
          <a:p>
            <a:pPr>
              <a:defRPr sz="900">
                <a:solidFill>
                  <a:srgbClr val="0F172A"/>
                </a:solidFill>
                <a:latin typeface="Calibri"/>
              </a:defRPr>
            </a:pPr>
            <a:r>
              <a:t>   Seamless progression: Student Profile -&gt; Academic Merit Record -&gt; Document Upload Simulator -&gt; Verification.</a:t>
            </a:r>
          </a:p>
          <a:p>
            <a:pPr>
              <a:defRPr b="1" sz="950">
                <a:solidFill>
                  <a:srgbClr val="071529"/>
                </a:solidFill>
                <a:latin typeface="Arial"/>
              </a:defRPr>
            </a:pPr>
            <a:r>
              <a:t>• Merit &amp; Cutoff Calculator: </a:t>
            </a:r>
          </a:p>
          <a:p>
            <a:pPr>
              <a:defRPr sz="900">
                <a:solidFill>
                  <a:srgbClr val="0F172A"/>
                </a:solidFill>
                <a:latin typeface="Calibri"/>
              </a:defRPr>
            </a:pPr>
            <a:r>
              <a:t>   Instant FYJC &amp; Degree cutoff predictor comparing student percentage with previous year merit lists.</a:t>
            </a:r>
          </a:p>
          <a:p>
            <a:pPr>
              <a:defRPr b="1" sz="950">
                <a:solidFill>
                  <a:srgbClr val="071529"/>
                </a:solidFill>
                <a:latin typeface="Arial"/>
              </a:defRPr>
            </a:pPr>
            <a:r>
              <a:t>• Official Acknowledgment Slip: </a:t>
            </a:r>
          </a:p>
          <a:p>
            <a:pPr>
              <a:defRPr sz="900">
                <a:solidFill>
                  <a:srgbClr val="0F172A"/>
                </a:solidFill>
                <a:latin typeface="Calibri"/>
              </a:defRPr>
            </a:pPr>
            <a:r>
              <a:t>   Generates print-ready verified slip with unique Application ID (`CHM-2026-XXXX`).</a:t>
            </a:r>
          </a:p>
          <a:p>
            <a:pPr>
              <a:defRPr b="1" sz="950">
                <a:solidFill>
                  <a:srgbClr val="071529"/>
                </a:solidFill>
                <a:latin typeface="Arial"/>
              </a:defRPr>
            </a:pPr>
            <a:r>
              <a:t>• Impact: </a:t>
            </a:r>
          </a:p>
          <a:p>
            <a:pPr>
              <a:defRPr sz="900">
                <a:solidFill>
                  <a:srgbClr val="0F172A"/>
                </a:solidFill>
                <a:latin typeface="Calibri"/>
              </a:defRPr>
            </a:pPr>
            <a:r>
              <a:t>   Reduces campus admission counter congestion by over 85% during June/July admission rushes.</a:t>
            </a:r>
          </a:p>
        </p:txBody>
      </p:sp>
      <p:sp>
        <p:nvSpPr>
          <p:cNvPr id="13" name="Rounded Rectangle 12"/>
          <p:cNvSpPr/>
          <p:nvPr/>
        </p:nvSpPr>
        <p:spPr>
          <a:xfrm>
            <a:off x="4389120" y="1325880"/>
            <a:ext cx="34134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325880"/>
            <a:ext cx="3413455" cy="548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371600"/>
            <a:ext cx="3413455" cy="365760"/>
          </a:xfrm>
          <a:prstGeom prst="rect">
            <a:avLst/>
          </a:prstGeom>
          <a:noFill/>
        </p:spPr>
        <p:txBody>
          <a:bodyPr wrap="none" lIns="0" rIns="0" tIns="0" bIns="0">
            <a:spAutoFit/>
          </a:bodyPr>
          <a:lstStyle/>
          <a:p>
            <a:pPr algn="ctr">
              <a:defRPr b="1" sz="1000">
                <a:solidFill>
                  <a:srgbClr val="FFFFFF"/>
                </a:solidFill>
                <a:latin typeface="Arial"/>
              </a:defRPr>
            </a:pPr>
            <a:r>
              <a:t>SMART FEE PAYMENT (`FEE-PAYMENT.HTML`)</a:t>
            </a:r>
          </a:p>
        </p:txBody>
      </p:sp>
      <p:sp>
        <p:nvSpPr>
          <p:cNvPr id="16" name="TextBox 15"/>
          <p:cNvSpPr txBox="1"/>
          <p:nvPr/>
        </p:nvSpPr>
        <p:spPr>
          <a:xfrm>
            <a:off x="4572000" y="2011680"/>
            <a:ext cx="3047695" cy="4114800"/>
          </a:xfrm>
          <a:prstGeom prst="rect">
            <a:avLst/>
          </a:prstGeom>
          <a:noFill/>
        </p:spPr>
        <p:txBody>
          <a:bodyPr wrap="square" lIns="0" rIns="0" tIns="0" bIns="0">
            <a:spAutoFit/>
          </a:bodyPr>
          <a:lstStyle/>
          <a:p/>
          <a:p>
            <a:pPr>
              <a:defRPr b="1" sz="950">
                <a:solidFill>
                  <a:srgbClr val="071529"/>
                </a:solidFill>
                <a:latin typeface="Arial"/>
              </a:defRPr>
            </a:pPr>
            <a:r>
              <a:t>• Itemized Ledger Breakdown: </a:t>
            </a:r>
          </a:p>
          <a:p>
            <a:pPr>
              <a:defRPr sz="900">
                <a:solidFill>
                  <a:srgbClr val="0F172A"/>
                </a:solidFill>
                <a:latin typeface="Calibri"/>
              </a:defRPr>
            </a:pPr>
            <a:r>
              <a:t>   Transparent fee structure: Tuition Fee, Laboratory Charges, Library Deposit, Gymkhana, and Examination Fees.</a:t>
            </a:r>
          </a:p>
          <a:p>
            <a:pPr>
              <a:defRPr b="1" sz="950">
                <a:solidFill>
                  <a:srgbClr val="071529"/>
                </a:solidFill>
                <a:latin typeface="Arial"/>
              </a:defRPr>
            </a:pPr>
            <a:r>
              <a:t>• Dynamic UPI QR Generator: </a:t>
            </a:r>
          </a:p>
          <a:p>
            <a:pPr>
              <a:defRPr sz="900">
                <a:solidFill>
                  <a:srgbClr val="0F172A"/>
                </a:solidFill>
                <a:latin typeface="Calibri"/>
              </a:defRPr>
            </a:pPr>
            <a:r>
              <a:t>   Simulates instant UPI payment (Google Pay, PhonePe, Paytm) with cryptographic reference tokens.</a:t>
            </a:r>
          </a:p>
          <a:p>
            <a:pPr>
              <a:defRPr b="1" sz="950">
                <a:solidFill>
                  <a:srgbClr val="071529"/>
                </a:solidFill>
                <a:latin typeface="Arial"/>
              </a:defRPr>
            </a:pPr>
            <a:r>
              <a:t>• Official Verified E-Receipt: </a:t>
            </a:r>
          </a:p>
          <a:p>
            <a:pPr>
              <a:defRPr sz="900">
                <a:solidFill>
                  <a:srgbClr val="0F172A"/>
                </a:solidFill>
                <a:latin typeface="Calibri"/>
              </a:defRPr>
            </a:pPr>
            <a:r>
              <a:t>   Instant printable receipt containing digital signature watermark and transaction hash.</a:t>
            </a:r>
          </a:p>
          <a:p>
            <a:pPr>
              <a:defRPr b="1" sz="950">
                <a:solidFill>
                  <a:srgbClr val="071529"/>
                </a:solidFill>
                <a:latin typeface="Arial"/>
              </a:defRPr>
            </a:pPr>
            <a:r>
              <a:t>• Impact: </a:t>
            </a:r>
          </a:p>
          <a:p>
            <a:pPr>
              <a:defRPr sz="900">
                <a:solidFill>
                  <a:srgbClr val="0F172A"/>
                </a:solidFill>
                <a:latin typeface="Calibri"/>
              </a:defRPr>
            </a:pPr>
            <a:r>
              <a:t>   Zero physical cash handling; eliminates bank reconciliation delays for accounts staff.</a:t>
            </a:r>
          </a:p>
        </p:txBody>
      </p:sp>
      <p:sp>
        <p:nvSpPr>
          <p:cNvPr id="17" name="Rounded Rectangle 16"/>
          <p:cNvSpPr/>
          <p:nvPr/>
        </p:nvSpPr>
        <p:spPr>
          <a:xfrm>
            <a:off x="8046720" y="1325880"/>
            <a:ext cx="34134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325880"/>
            <a:ext cx="3413455" cy="5486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1371600"/>
            <a:ext cx="3413455" cy="365760"/>
          </a:xfrm>
          <a:prstGeom prst="rect">
            <a:avLst/>
          </a:prstGeom>
          <a:noFill/>
        </p:spPr>
        <p:txBody>
          <a:bodyPr wrap="none" lIns="0" rIns="0" tIns="0" bIns="0">
            <a:spAutoFit/>
          </a:bodyPr>
          <a:lstStyle/>
          <a:p>
            <a:pPr algn="ctr">
              <a:defRPr b="1" sz="1000">
                <a:solidFill>
                  <a:srgbClr val="FFFFFF"/>
                </a:solidFill>
                <a:latin typeface="Arial"/>
              </a:defRPr>
            </a:pPr>
            <a:r>
              <a:t>STATUTORY GOVERNANCE (`GOVERNANCE.HTML`)</a:t>
            </a:r>
          </a:p>
        </p:txBody>
      </p:sp>
      <p:sp>
        <p:nvSpPr>
          <p:cNvPr id="20" name="TextBox 19"/>
          <p:cNvSpPr txBox="1"/>
          <p:nvPr/>
        </p:nvSpPr>
        <p:spPr>
          <a:xfrm>
            <a:off x="8229600" y="2011680"/>
            <a:ext cx="3047695" cy="4114800"/>
          </a:xfrm>
          <a:prstGeom prst="rect">
            <a:avLst/>
          </a:prstGeom>
          <a:noFill/>
        </p:spPr>
        <p:txBody>
          <a:bodyPr wrap="square" lIns="0" rIns="0" tIns="0" bIns="0">
            <a:spAutoFit/>
          </a:bodyPr>
          <a:lstStyle/>
          <a:p/>
          <a:p>
            <a:pPr>
              <a:defRPr b="1" sz="950">
                <a:solidFill>
                  <a:srgbClr val="071529"/>
                </a:solidFill>
                <a:latin typeface="Arial"/>
              </a:defRPr>
            </a:pPr>
            <a:r>
              <a:t>• Statutory Committees: </a:t>
            </a:r>
          </a:p>
          <a:p>
            <a:pPr>
              <a:defRPr sz="900">
                <a:solidFill>
                  <a:srgbClr val="0F172A"/>
                </a:solidFill>
                <a:latin typeface="Calibri"/>
              </a:defRPr>
            </a:pPr>
            <a:r>
              <a:t>   Mandatory disclosures for CDC (College Development Committee) under Maharashtra Public Universities Act 2016.</a:t>
            </a:r>
          </a:p>
          <a:p>
            <a:pPr>
              <a:defRPr b="1" sz="950">
                <a:solidFill>
                  <a:srgbClr val="071529"/>
                </a:solidFill>
                <a:latin typeface="Arial"/>
              </a:defRPr>
            </a:pPr>
            <a:r>
              <a:t>• ICC / POSH &amp; Anti-Ragging: </a:t>
            </a:r>
          </a:p>
          <a:p>
            <a:pPr>
              <a:defRPr sz="900">
                <a:solidFill>
                  <a:srgbClr val="0F172A"/>
                </a:solidFill>
                <a:latin typeface="Calibri"/>
              </a:defRPr>
            </a:pPr>
            <a:r>
              <a:t>   Internal Complaints Committee details, zero-tolerance policy, and 24/7 National Emergency Hotline.</a:t>
            </a:r>
          </a:p>
          <a:p>
            <a:pPr>
              <a:defRPr b="1" sz="950">
                <a:solidFill>
                  <a:srgbClr val="071529"/>
                </a:solidFill>
                <a:latin typeface="Arial"/>
              </a:defRPr>
            </a:pPr>
            <a:r>
              <a:t>• Online Grievance Cell (SGRC): </a:t>
            </a:r>
          </a:p>
          <a:p>
            <a:pPr>
              <a:defRPr sz="900">
                <a:solidFill>
                  <a:srgbClr val="0F172A"/>
                </a:solidFill>
                <a:latin typeface="Calibri"/>
              </a:defRPr>
            </a:pPr>
            <a:r>
              <a:t>   Student Grievance Redressal portal generating authenticated tracking tokens for complaints.</a:t>
            </a:r>
          </a:p>
          <a:p>
            <a:pPr>
              <a:defRPr b="1" sz="950">
                <a:solidFill>
                  <a:srgbClr val="071529"/>
                </a:solidFill>
                <a:latin typeface="Arial"/>
              </a:defRPr>
            </a:pPr>
            <a:r>
              <a:t>• RTI Act 2005 Portal: </a:t>
            </a:r>
          </a:p>
          <a:p>
            <a:pPr>
              <a:defRPr sz="900">
                <a:solidFill>
                  <a:srgbClr val="0F172A"/>
                </a:solidFill>
                <a:latin typeface="Calibri"/>
              </a:defRPr>
            </a:pPr>
            <a:r>
              <a:t>   Directory of Public Information Officers (PIO &amp; APIO) for statutory transparency.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ACADEMIC EXCELLENCE</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NEP 2020 Pedagogical Tools &amp; Examination Vault</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08760"/>
            <a:ext cx="4846320" cy="4572000"/>
          </a:xfrm>
          <a:prstGeom prst="rect">
            <a:avLst/>
          </a:prstGeom>
          <a:noFill/>
        </p:spPr>
        <p:txBody>
          <a:bodyPr wrap="square">
            <a:spAutoFit/>
          </a:bodyPr>
          <a:lstStyle/>
          <a:p>
            <a:pPr>
              <a:defRPr b="1" sz="1350">
                <a:solidFill>
                  <a:srgbClr val="071529"/>
                </a:solidFill>
                <a:latin typeface="Arial"/>
              </a:defRPr>
            </a:pPr>
            <a:r>
              <a:t>🧠 Bloom's Taxonomy Assessment Tool (`assessment-tools.html`)</a:t>
            </a:r>
          </a:p>
          <a:p>
            <a:pPr>
              <a:defRPr b="1" sz="1000">
                <a:solidFill>
                  <a:srgbClr val="0D9488"/>
                </a:solidFill>
                <a:latin typeface="Arial"/>
              </a:defRPr>
            </a:pPr>
            <a:r>
              <a:t>• NEP 2020 Mandate: </a:t>
            </a:r>
          </a:p>
          <a:p>
            <a:pPr>
              <a:defRPr sz="950">
                <a:solidFill>
                  <a:srgbClr val="0F172A"/>
                </a:solidFill>
                <a:latin typeface="Calibri"/>
              </a:defRPr>
            </a:pPr>
            <a:r>
              <a:t>   Requires higher education institutions to assess students across all 6 cognitive levels of Bloom's Revised Taxonomy, moving away from rote memorization.</a:t>
            </a:r>
          </a:p>
          <a:p>
            <a:pPr>
              <a:defRPr b="1" sz="1000">
                <a:solidFill>
                  <a:srgbClr val="0D9488"/>
                </a:solidFill>
                <a:latin typeface="Arial"/>
              </a:defRPr>
            </a:pPr>
            <a:r>
              <a:t>• 6-Level Cognitive Distribution: </a:t>
            </a:r>
          </a:p>
          <a:p>
            <a:pPr>
              <a:defRPr sz="950">
                <a:solidFill>
                  <a:srgbClr val="0F172A"/>
                </a:solidFill>
                <a:latin typeface="Calibri"/>
              </a:defRPr>
            </a:pPr>
            <a:r>
              <a:t>   Automated visual radar assessing: L1 (Remember), L2 (Understand), L3 (Apply), L4 (Analyze), L5 (Evaluate), and L6 (Create).</a:t>
            </a:r>
          </a:p>
          <a:p>
            <a:pPr>
              <a:defRPr b="1" sz="1000">
                <a:solidFill>
                  <a:srgbClr val="0D9488"/>
                </a:solidFill>
                <a:latin typeface="Arial"/>
              </a:defRPr>
            </a:pPr>
            <a:r>
              <a:t>• Course Outcome (CO) Mapping: </a:t>
            </a:r>
          </a:p>
          <a:p>
            <a:pPr>
              <a:defRPr sz="950">
                <a:solidFill>
                  <a:srgbClr val="0F172A"/>
                </a:solidFill>
                <a:latin typeface="Calibri"/>
              </a:defRPr>
            </a:pPr>
            <a:r>
              <a:t>   Directly links individual examination questions to CO1 through CO4, complying with NBA and NAAC Criterion 2.6.</a:t>
            </a:r>
          </a:p>
          <a:p>
            <a:pPr>
              <a:defRPr b="1" sz="1000">
                <a:solidFill>
                  <a:srgbClr val="0D9488"/>
                </a:solidFill>
                <a:latin typeface="Arial"/>
              </a:defRPr>
            </a:pPr>
            <a:r>
              <a:t>• Exam Paper Blueprint Generator: </a:t>
            </a:r>
          </a:p>
          <a:p>
            <a:pPr>
              <a:defRPr sz="950">
                <a:solidFill>
                  <a:srgbClr val="0F172A"/>
                </a:solidFill>
                <a:latin typeface="Calibri"/>
              </a:defRPr>
            </a:pPr>
            <a:r>
              <a:t>   Faculty can construct, balance, and export standardized question papers with verified mark distribution matrices in seconds.</a:t>
            </a:r>
          </a:p>
        </p:txBody>
      </p:sp>
      <p:sp>
        <p:nvSpPr>
          <p:cNvPr id="11" name="Rounded Rectangle 10"/>
          <p:cNvSpPr/>
          <p:nvPr/>
        </p:nvSpPr>
        <p:spPr>
          <a:xfrm>
            <a:off x="6217920" y="132588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08760"/>
            <a:ext cx="4846320" cy="4572000"/>
          </a:xfrm>
          <a:prstGeom prst="rect">
            <a:avLst/>
          </a:prstGeom>
          <a:noFill/>
        </p:spPr>
        <p:txBody>
          <a:bodyPr wrap="square">
            <a:spAutoFit/>
          </a:bodyPr>
          <a:lstStyle/>
          <a:p>
            <a:pPr>
              <a:defRPr b="1" sz="1350">
                <a:solidFill>
                  <a:srgbClr val="071529"/>
                </a:solidFill>
                <a:latin typeface="Arial"/>
              </a:defRPr>
            </a:pPr>
            <a:r>
              <a:t>📚 University Exam Vault &amp; Marksheet Generator</a:t>
            </a:r>
          </a:p>
          <a:p>
            <a:pPr>
              <a:defRPr b="1" sz="1000">
                <a:solidFill>
                  <a:srgbClr val="2563EB"/>
                </a:solidFill>
                <a:latin typeface="Arial"/>
              </a:defRPr>
            </a:pPr>
            <a:r>
              <a:t>• Instant Marksheet Lookup (`exams.html`): </a:t>
            </a:r>
          </a:p>
          <a:p>
            <a:pPr>
              <a:defRPr sz="950">
                <a:solidFill>
                  <a:srgbClr val="0F172A"/>
                </a:solidFill>
                <a:latin typeface="Calibri"/>
              </a:defRPr>
            </a:pPr>
            <a:r>
              <a:t>   Students enter their University PRN or Seat Number to view verified Semester Statements of Marks &amp; Grades with SGPA/CGPA calculations.</a:t>
            </a:r>
          </a:p>
          <a:p>
            <a:pPr>
              <a:defRPr b="1" sz="1000">
                <a:solidFill>
                  <a:srgbClr val="2563EB"/>
                </a:solidFill>
                <a:latin typeface="Arial"/>
              </a:defRPr>
            </a:pPr>
            <a:r>
              <a:t>• Timetable &amp; Revaluation Desk: </a:t>
            </a:r>
          </a:p>
          <a:p>
            <a:pPr>
              <a:defRPr sz="950">
                <a:solidFill>
                  <a:srgbClr val="0F172A"/>
                </a:solidFill>
                <a:latin typeface="Calibri"/>
              </a:defRPr>
            </a:pPr>
            <a:r>
              <a:t>   Active University examination timetables, seat allocations, and paper revaluation request portal.</a:t>
            </a:r>
          </a:p>
          <a:p>
            <a:pPr>
              <a:defRPr b="1" sz="1000">
                <a:solidFill>
                  <a:srgbClr val="2563EB"/>
                </a:solidFill>
                <a:latin typeface="Arial"/>
              </a:defRPr>
            </a:pPr>
            <a:r>
              <a:t>• Central Question Bank (`question-bank.html`): </a:t>
            </a:r>
          </a:p>
          <a:p>
            <a:pPr>
              <a:defRPr sz="950">
                <a:solidFill>
                  <a:srgbClr val="0F172A"/>
                </a:solidFill>
                <a:latin typeface="Calibri"/>
              </a:defRPr>
            </a:pPr>
            <a:r>
              <a:t>   Searchable archive of University of Mumbai Previous Year Question Papers (2020-2025).</a:t>
            </a:r>
          </a:p>
          <a:p>
            <a:pPr>
              <a:defRPr b="1" sz="1000">
                <a:solidFill>
                  <a:srgbClr val="2563EB"/>
                </a:solidFill>
                <a:latin typeface="Arial"/>
              </a:defRPr>
            </a:pPr>
            <a:r>
              <a:t>• Multi-Facet Filtering: </a:t>
            </a:r>
          </a:p>
          <a:p>
            <a:pPr>
              <a:defRPr sz="950">
                <a:solidFill>
                  <a:srgbClr val="0F172A"/>
                </a:solidFill>
                <a:latin typeface="Calibri"/>
              </a:defRPr>
            </a:pPr>
            <a:r>
              <a:t>   Students filter papers instantly by Faculty (Science, Commerce, Arts, IT/CS, Management), Semester (Sem I to VI), and Exam Session.</a:t>
            </a:r>
          </a:p>
          <a:p>
            <a:pPr>
              <a:defRPr b="1" sz="1000">
                <a:solidFill>
                  <a:srgbClr val="2563EB"/>
                </a:solidFill>
                <a:latin typeface="Arial"/>
              </a:defRPr>
            </a:pPr>
            <a:r>
              <a:t>• Paper Blueprint Preview: </a:t>
            </a:r>
          </a:p>
          <a:p>
            <a:pPr>
              <a:defRPr sz="950">
                <a:solidFill>
                  <a:srgbClr val="0F172A"/>
                </a:solidFill>
                <a:latin typeface="Calibri"/>
              </a:defRPr>
            </a:pPr>
            <a:r>
              <a:t>   In-browser modal preview and 1-click verified PDF download simulator.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ACCREDITATION &amp; ANALYTICS</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Autonomous NAAC &amp; IQAC Quality Compliance Hub</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107286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508760"/>
            <a:ext cx="10149840" cy="4572000"/>
          </a:xfrm>
          <a:prstGeom prst="rect">
            <a:avLst/>
          </a:prstGeom>
          <a:noFill/>
        </p:spPr>
        <p:txBody>
          <a:bodyPr wrap="square">
            <a:spAutoFit/>
          </a:bodyPr>
          <a:lstStyle/>
          <a:p>
            <a:pPr>
              <a:defRPr b="1" sz="1500">
                <a:solidFill>
                  <a:srgbClr val="071529"/>
                </a:solidFill>
              </a:defRPr>
            </a:pPr>
            <a:r>
              <a:t>📊 Elevating Institutional Accreditation from 'A' (3.12 CGPA) to 'A++' (3.60+ CGPA)</a:t>
            </a:r>
          </a:p>
          <a:p>
            <a:pPr>
              <a:defRPr b="1" sz="1000">
                <a:solidFill>
                  <a:srgbClr val="071529"/>
                </a:solidFill>
                <a:latin typeface="Arial"/>
              </a:defRPr>
            </a:pPr>
            <a:r>
              <a:t>🏆 Criterion 1: Curricular Aspects: </a:t>
            </a:r>
          </a:p>
          <a:p>
            <a:pPr>
              <a:defRPr sz="950">
                <a:solidFill>
                  <a:srgbClr val="64748B"/>
                </a:solidFill>
                <a:latin typeface="Calibri"/>
              </a:defRPr>
            </a:pPr>
            <a:r>
              <a:t>    Tracks NEP elective choices, academic flexibility, syllabus feedback from students, teachers, and employers.</a:t>
            </a:r>
          </a:p>
          <a:p>
            <a:pPr>
              <a:defRPr b="1" sz="1000">
                <a:solidFill>
                  <a:srgbClr val="071529"/>
                </a:solidFill>
                <a:latin typeface="Arial"/>
              </a:defRPr>
            </a:pPr>
            <a:r>
              <a:t>🏆 Criterion 2: Teaching-Learning &amp; Evaluation: </a:t>
            </a:r>
          </a:p>
          <a:p>
            <a:pPr>
              <a:defRPr sz="950">
                <a:solidFill>
                  <a:srgbClr val="64748B"/>
                </a:solidFill>
                <a:latin typeface="Calibri"/>
              </a:defRPr>
            </a:pPr>
            <a:r>
              <a:t>    Student-faculty ratio metrics, ICT-enabled pedagogy, Bloom's cognitive mapping, and live internal assessment scores.</a:t>
            </a:r>
          </a:p>
          <a:p>
            <a:pPr>
              <a:defRPr b="1" sz="1000">
                <a:solidFill>
                  <a:srgbClr val="071529"/>
                </a:solidFill>
                <a:latin typeface="Arial"/>
              </a:defRPr>
            </a:pPr>
            <a:r>
              <a:t>🏆 Criterion 3: Research, Innovations &amp; Extension: </a:t>
            </a:r>
          </a:p>
          <a:p>
            <a:pPr>
              <a:defRPr sz="950">
                <a:solidFill>
                  <a:srgbClr val="64748B"/>
                </a:solidFill>
                <a:latin typeface="Calibri"/>
              </a:defRPr>
            </a:pPr>
            <a:r>
              <a:t>    Showcases Ph.D. research centers, UGC-CARE / Scopus publications, patents filed, and NSS/NCC extension credits.</a:t>
            </a:r>
          </a:p>
          <a:p>
            <a:pPr>
              <a:defRPr b="1" sz="1000">
                <a:solidFill>
                  <a:srgbClr val="071529"/>
                </a:solidFill>
                <a:latin typeface="Arial"/>
              </a:defRPr>
            </a:pPr>
            <a:r>
              <a:t>🏆 Criterion 4: Infrastructure &amp; Learning Resources: </a:t>
            </a:r>
          </a:p>
          <a:p>
            <a:pPr>
              <a:defRPr sz="950">
                <a:solidFill>
                  <a:srgbClr val="64748B"/>
                </a:solidFill>
                <a:latin typeface="Calibri"/>
              </a:defRPr>
            </a:pPr>
            <a:r>
              <a:t>    Digital library footfall, 60,000+ OPAC book titles, INFLIBNET N-LIST e-journals, and Wi-Fi bandwidth tracking.</a:t>
            </a:r>
          </a:p>
          <a:p>
            <a:pPr>
              <a:defRPr b="1" sz="1000">
                <a:solidFill>
                  <a:srgbClr val="071529"/>
                </a:solidFill>
                <a:latin typeface="Arial"/>
              </a:defRPr>
            </a:pPr>
            <a:r>
              <a:t>🏆 Criterion 5: Student Support &amp; Progression: </a:t>
            </a:r>
          </a:p>
          <a:p>
            <a:pPr>
              <a:defRPr sz="950">
                <a:solidFill>
                  <a:srgbClr val="64748B"/>
                </a:solidFill>
                <a:latin typeface="Calibri"/>
              </a:defRPr>
            </a:pPr>
            <a:r>
              <a:t>    MahaDBT scholarship disbursement rates, competitive exam coaching, campus placement statistics, and alumni endowments.</a:t>
            </a:r>
          </a:p>
          <a:p>
            <a:pPr>
              <a:defRPr b="1" sz="1000">
                <a:solidFill>
                  <a:srgbClr val="071529"/>
                </a:solidFill>
                <a:latin typeface="Arial"/>
              </a:defRPr>
            </a:pPr>
            <a:r>
              <a:t>🏆 Criterion 6: Governance, Leadership &amp; Management: </a:t>
            </a:r>
          </a:p>
          <a:p>
            <a:pPr>
              <a:defRPr sz="950">
                <a:solidFill>
                  <a:srgbClr val="64748B"/>
                </a:solidFill>
                <a:latin typeface="Calibri"/>
              </a:defRPr>
            </a:pPr>
            <a:r>
              <a:t>    Decentralized administration, financial audit transparency, faculty professional development (FDPs), and IQAC minutes.</a:t>
            </a:r>
          </a:p>
          <a:p>
            <a:pPr>
              <a:defRPr b="1" sz="1000">
                <a:solidFill>
                  <a:srgbClr val="071529"/>
                </a:solidFill>
                <a:latin typeface="Arial"/>
              </a:defRPr>
            </a:pPr>
            <a:r>
              <a:t>🏆 Criterion 7: Institutional Values &amp; Best Practices: </a:t>
            </a:r>
          </a:p>
          <a:p>
            <a:pPr>
              <a:defRPr sz="950">
                <a:solidFill>
                  <a:srgbClr val="64748B"/>
                </a:solidFill>
                <a:latin typeface="Calibri"/>
              </a:defRPr>
            </a:pPr>
            <a:r>
              <a:t>    150 kW rooftop solar energy metrics, rainwater harvesting telemetry, green audits, and Sindhi cultural heritage preservation.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HOLISTIC CAMPUS ECOSYSTEM</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Smart Campus Life, AI Concierge &amp; Sustainability</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1463039"/>
            <a:ext cx="109728" cy="2148840"/>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463039"/>
            <a:ext cx="4663440" cy="2148840"/>
          </a:xfrm>
          <a:prstGeom prst="rect">
            <a:avLst/>
          </a:prstGeom>
          <a:noFill/>
        </p:spPr>
        <p:txBody>
          <a:bodyPr wrap="square">
            <a:spAutoFit/>
          </a:bodyPr>
          <a:lstStyle/>
          <a:p>
            <a:pPr>
              <a:defRPr sz="1300" b="1">
                <a:solidFill>
                  <a:srgbClr val="071529"/>
                </a:solidFill>
                <a:latin typeface="Arial"/>
              </a:defRPr>
            </a:pPr>
            <a:r>
              <a:t>Voice AI Concierge (ChandiBot)</a:t>
            </a:r>
          </a:p>
          <a:p>
            <a:pPr>
              <a:defRPr b="1" sz="950">
                <a:solidFill>
                  <a:srgbClr val="D4AF37"/>
                </a:solidFill>
                <a:latin typeface="Arial"/>
              </a:defRPr>
            </a:pPr>
            <a:r>
              <a:t>• Native Speech APIs: </a:t>
            </a:r>
          </a:p>
          <a:p>
            <a:pPr>
              <a:defRPr sz="900">
                <a:solidFill>
                  <a:srgbClr val="0F172A"/>
                </a:solidFill>
                <a:latin typeface="Calibri"/>
              </a:defRPr>
            </a:pPr>
            <a:r>
              <a:t>   Powered by Web Speech Synthesis &amp; Recognition for natural voice conversations.</a:t>
            </a:r>
          </a:p>
          <a:p>
            <a:pPr>
              <a:defRPr b="1" sz="950">
                <a:solidFill>
                  <a:srgbClr val="D4AF37"/>
                </a:solidFill>
                <a:latin typeface="Arial"/>
              </a:defRPr>
            </a:pPr>
            <a:r>
              <a:t>• Voice &amp; Text Mode: </a:t>
            </a:r>
          </a:p>
          <a:p>
            <a:pPr>
              <a:defRPr sz="900">
                <a:solidFill>
                  <a:srgbClr val="0F172A"/>
                </a:solidFill>
                <a:latin typeface="Calibri"/>
              </a:defRPr>
            </a:pPr>
            <a:r>
              <a:t>   Hands-free voice inquiry for admissions, timetables, and campus directions.</a:t>
            </a:r>
          </a:p>
          <a:p>
            <a:pPr>
              <a:defRPr b="1" sz="950">
                <a:solidFill>
                  <a:srgbClr val="D4AF37"/>
                </a:solidFill>
                <a:latin typeface="Arial"/>
              </a:defRPr>
            </a:pPr>
            <a:r>
              <a:t>• Bilingual Compliance: </a:t>
            </a:r>
          </a:p>
          <a:p>
            <a:pPr>
              <a:defRPr sz="900">
                <a:solidFill>
                  <a:srgbClr val="0F172A"/>
                </a:solidFill>
                <a:latin typeface="Calibri"/>
              </a:defRPr>
            </a:pPr>
            <a:r>
              <a:t>   Seamless toggle between English and Marathi (*मराठी भाषा संवर्धन*).</a:t>
            </a:r>
          </a:p>
        </p:txBody>
      </p:sp>
      <p:sp>
        <p:nvSpPr>
          <p:cNvPr id="12" name="Rounded Rectangle 11"/>
          <p:cNvSpPr/>
          <p:nvPr/>
        </p:nvSpPr>
        <p:spPr>
          <a:xfrm>
            <a:off x="6217920" y="132588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463039"/>
            <a:ext cx="109728" cy="21488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463039"/>
            <a:ext cx="4663440" cy="2148840"/>
          </a:xfrm>
          <a:prstGeom prst="rect">
            <a:avLst/>
          </a:prstGeom>
          <a:noFill/>
        </p:spPr>
        <p:txBody>
          <a:bodyPr wrap="square">
            <a:spAutoFit/>
          </a:bodyPr>
          <a:lstStyle/>
          <a:p>
            <a:pPr>
              <a:defRPr sz="1300" b="1">
                <a:solidFill>
                  <a:srgbClr val="071529"/>
                </a:solidFill>
                <a:latin typeface="Arial"/>
              </a:defRPr>
            </a:pPr>
            <a:r>
              <a:t>Green Campus Telemetry</a:t>
            </a:r>
          </a:p>
          <a:p>
            <a:pPr>
              <a:defRPr b="1" sz="950">
                <a:solidFill>
                  <a:srgbClr val="10B981"/>
                </a:solidFill>
                <a:latin typeface="Arial"/>
              </a:defRPr>
            </a:pPr>
            <a:r>
              <a:t>• 150 kW Solar Array: </a:t>
            </a:r>
          </a:p>
          <a:p>
            <a:pPr>
              <a:defRPr sz="900">
                <a:solidFill>
                  <a:srgbClr val="0F172A"/>
                </a:solidFill>
                <a:latin typeface="Calibri"/>
              </a:defRPr>
            </a:pPr>
            <a:r>
              <a:t>   Real-time energy generation tracking (340+ MWh produced to date).</a:t>
            </a:r>
          </a:p>
          <a:p>
            <a:pPr>
              <a:defRPr b="1" sz="950">
                <a:solidFill>
                  <a:srgbClr val="10B981"/>
                </a:solidFill>
                <a:latin typeface="Arial"/>
              </a:defRPr>
            </a:pPr>
            <a:r>
              <a:t>• 1,20,000 L Rainwater Harvesting: </a:t>
            </a:r>
          </a:p>
          <a:p>
            <a:pPr>
              <a:defRPr sz="900">
                <a:solidFill>
                  <a:srgbClr val="0F172A"/>
                </a:solidFill>
                <a:latin typeface="Calibri"/>
              </a:defRPr>
            </a:pPr>
            <a:r>
              <a:t>   Water conservation telemetry and campus groundwater replenishment.</a:t>
            </a:r>
          </a:p>
          <a:p>
            <a:pPr>
              <a:defRPr b="1" sz="950">
                <a:solidFill>
                  <a:srgbClr val="10B981"/>
                </a:solidFill>
                <a:latin typeface="Arial"/>
              </a:defRPr>
            </a:pPr>
            <a:r>
              <a:t>• Carbon Offset Tracker: </a:t>
            </a:r>
          </a:p>
          <a:p>
            <a:pPr>
              <a:defRPr sz="900">
                <a:solidFill>
                  <a:srgbClr val="0F172A"/>
                </a:solidFill>
                <a:latin typeface="Calibri"/>
              </a:defRPr>
            </a:pPr>
            <a:r>
              <a:t>   Calculates 278 Tonnes of CO2 offset for NAAC Criterion 7.1 compliance.</a:t>
            </a:r>
          </a:p>
        </p:txBody>
      </p:sp>
      <p:sp>
        <p:nvSpPr>
          <p:cNvPr id="15" name="Rounded Rectangle 14"/>
          <p:cNvSpPr/>
          <p:nvPr/>
        </p:nvSpPr>
        <p:spPr>
          <a:xfrm>
            <a:off x="731520" y="393192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4069080"/>
            <a:ext cx="109728" cy="21488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069080"/>
            <a:ext cx="4663440" cy="2148840"/>
          </a:xfrm>
          <a:prstGeom prst="rect">
            <a:avLst/>
          </a:prstGeom>
          <a:noFill/>
        </p:spPr>
        <p:txBody>
          <a:bodyPr wrap="square">
            <a:spAutoFit/>
          </a:bodyPr>
          <a:lstStyle/>
          <a:p>
            <a:pPr>
              <a:defRPr sz="1300" b="1">
                <a:solidFill>
                  <a:srgbClr val="071529"/>
                </a:solidFill>
                <a:latin typeface="Arial"/>
              </a:defRPr>
            </a:pPr>
            <a:r>
              <a:t>Global Alumni &amp; Placements</a:t>
            </a:r>
          </a:p>
          <a:p>
            <a:pPr>
              <a:defRPr b="1" sz="950">
                <a:solidFill>
                  <a:srgbClr val="2563EB"/>
                </a:solidFill>
                <a:latin typeface="Arial"/>
              </a:defRPr>
            </a:pPr>
            <a:r>
              <a:t>• 50,000+ Alumni Directory: </a:t>
            </a:r>
          </a:p>
          <a:p>
            <a:pPr>
              <a:defRPr sz="900">
                <a:solidFill>
                  <a:srgbClr val="0F172A"/>
                </a:solidFill>
                <a:latin typeface="Calibri"/>
              </a:defRPr>
            </a:pPr>
            <a:r>
              <a:t>   Searchable network spanning Mumbai, Dubai, UK, and US chapters.</a:t>
            </a:r>
          </a:p>
          <a:p>
            <a:pPr>
              <a:defRPr b="1" sz="950">
                <a:solidFill>
                  <a:srgbClr val="2563EB"/>
                </a:solidFill>
                <a:latin typeface="Arial"/>
              </a:defRPr>
            </a:pPr>
            <a:r>
              <a:t>• Alumni Job Referral Board: </a:t>
            </a:r>
          </a:p>
          <a:p>
            <a:pPr>
              <a:defRPr sz="900">
                <a:solidFill>
                  <a:srgbClr val="0F172A"/>
                </a:solidFill>
                <a:latin typeface="Calibri"/>
              </a:defRPr>
            </a:pPr>
            <a:r>
              <a:t>   Direct corporate vacancy postings and 1-on-1 mentorship bookings.</a:t>
            </a:r>
          </a:p>
          <a:p>
            <a:pPr>
              <a:defRPr b="1" sz="950">
                <a:solidFill>
                  <a:srgbClr val="2563EB"/>
                </a:solidFill>
                <a:latin typeface="Arial"/>
              </a:defRPr>
            </a:pPr>
            <a:r>
              <a:t>• Placement Drives: </a:t>
            </a:r>
          </a:p>
          <a:p>
            <a:pPr>
              <a:defRPr sz="900">
                <a:solidFill>
                  <a:srgbClr val="0F172A"/>
                </a:solidFill>
                <a:latin typeface="Calibri"/>
              </a:defRPr>
            </a:pPr>
            <a:r>
              <a:t>   Integrated application tracking for TCS, Deloitte, ICICI Bank drives.</a:t>
            </a:r>
          </a:p>
        </p:txBody>
      </p:sp>
      <p:sp>
        <p:nvSpPr>
          <p:cNvPr id="18" name="Rounded Rectangle 17"/>
          <p:cNvSpPr/>
          <p:nvPr/>
        </p:nvSpPr>
        <p:spPr>
          <a:xfrm>
            <a:off x="6217920" y="393192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55080" y="4069080"/>
            <a:ext cx="109728" cy="21488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069080"/>
            <a:ext cx="4663440" cy="2148840"/>
          </a:xfrm>
          <a:prstGeom prst="rect">
            <a:avLst/>
          </a:prstGeom>
          <a:noFill/>
        </p:spPr>
        <p:txBody>
          <a:bodyPr wrap="square">
            <a:spAutoFit/>
          </a:bodyPr>
          <a:lstStyle/>
          <a:p>
            <a:pPr>
              <a:defRPr sz="1300" b="1">
                <a:solidFill>
                  <a:srgbClr val="071529"/>
                </a:solidFill>
                <a:latin typeface="Arial"/>
              </a:defRPr>
            </a:pPr>
            <a:r>
              <a:t>Virtual 360° Campus Tour</a:t>
            </a:r>
          </a:p>
          <a:p>
            <a:pPr>
              <a:defRPr b="1" sz="950">
                <a:solidFill>
                  <a:srgbClr val="0D9488"/>
                </a:solidFill>
                <a:latin typeface="Arial"/>
              </a:defRPr>
            </a:pPr>
            <a:r>
              <a:t>• Interactive 360 Viewport: </a:t>
            </a:r>
          </a:p>
          <a:p>
            <a:pPr>
              <a:defRPr sz="900">
                <a:solidFill>
                  <a:srgbClr val="0F172A"/>
                </a:solidFill>
                <a:latin typeface="Calibri"/>
              </a:defRPr>
            </a:pPr>
            <a:r>
              <a:t>   Panoramic navigation of Central Library, Kundnani Auditorium, and Research Wings.</a:t>
            </a:r>
          </a:p>
          <a:p>
            <a:pPr>
              <a:defRPr b="1" sz="950">
                <a:solidFill>
                  <a:srgbClr val="0D9488"/>
                </a:solidFill>
                <a:latin typeface="Arial"/>
              </a:defRPr>
            </a:pPr>
            <a:r>
              <a:t>• Audio Tour Narrator: </a:t>
            </a:r>
          </a:p>
          <a:p>
            <a:pPr>
              <a:defRPr sz="900">
                <a:solidFill>
                  <a:srgbClr val="0F172A"/>
                </a:solidFill>
                <a:latin typeface="Calibri"/>
              </a:defRPr>
            </a:pPr>
            <a:r>
              <a:t>   Automated speech tour guide describing campus landmarks.</a:t>
            </a:r>
          </a:p>
          <a:p>
            <a:pPr>
              <a:defRPr b="1" sz="950">
                <a:solidFill>
                  <a:srgbClr val="0D9488"/>
                </a:solidFill>
                <a:latin typeface="Arial"/>
              </a:defRPr>
            </a:pPr>
            <a:r>
              <a:t>• Hotspot Facility Pins: </a:t>
            </a:r>
          </a:p>
          <a:p>
            <a:pPr>
              <a:defRPr sz="900">
                <a:solidFill>
                  <a:srgbClr val="0F172A"/>
                </a:solidFill>
                <a:latin typeface="Calibri"/>
              </a:defRPr>
            </a:pPr>
            <a:r>
              <a:t>   Interactive clickable pins revealing departmental information.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MACHINE LEARNING &amp; ACADEMIC TELEMETRY</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Data Science &amp; AI Predictive Analytics Hub (`analytics.html`)</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1463039"/>
            <a:ext cx="109728" cy="214884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463039"/>
            <a:ext cx="4663440" cy="2148840"/>
          </a:xfrm>
          <a:prstGeom prst="rect">
            <a:avLst/>
          </a:prstGeom>
          <a:noFill/>
        </p:spPr>
        <p:txBody>
          <a:bodyPr wrap="square">
            <a:spAutoFit/>
          </a:bodyPr>
          <a:lstStyle/>
          <a:p>
            <a:pPr>
              <a:defRPr sz="1200" b="1">
                <a:solidFill>
                  <a:srgbClr val="071529"/>
                </a:solidFill>
                <a:latin typeface="Arial"/>
              </a:defRPr>
            </a:pPr>
            <a:r>
              <a:t>Ordinance 0.119 Defaulter Predictor (Logistic Sigmoid)</a:t>
            </a:r>
          </a:p>
          <a:p>
            <a:pPr>
              <a:defRPr b="1" sz="950">
                <a:solidFill>
                  <a:srgbClr val="E11D48"/>
                </a:solidFill>
                <a:latin typeface="Arial"/>
              </a:defRPr>
            </a:pPr>
            <a:r>
              <a:t>• Mathematical Model: </a:t>
            </a:r>
          </a:p>
          <a:p>
            <a:pPr>
              <a:defRPr sz="900">
                <a:solidFill>
                  <a:srgbClr val="0F172A"/>
                </a:solidFill>
                <a:latin typeface="Calibri"/>
              </a:defRPr>
            </a:pPr>
            <a:r>
              <a:t>   P(Defaulter) = 1 / (1 + e^-z), where z = β0 + β1(Att) + β2(Tests) + β3(Delay).</a:t>
            </a:r>
          </a:p>
          <a:p>
            <a:pPr>
              <a:defRPr b="1" sz="950">
                <a:solidFill>
                  <a:srgbClr val="E11D48"/>
                </a:solidFill>
                <a:latin typeface="Arial"/>
              </a:defRPr>
            </a:pPr>
            <a:r>
              <a:t>• Proactive Early Warnings: </a:t>
            </a:r>
          </a:p>
          <a:p>
            <a:pPr>
              <a:defRPr sz="900">
                <a:solidFill>
                  <a:srgbClr val="0F172A"/>
                </a:solidFill>
                <a:latin typeface="Calibri"/>
              </a:defRPr>
            </a:pPr>
            <a:r>
              <a:t>   Categorizes students into Safe (&gt;75%), Amber Risk (65-74%), and Critical (&lt;65%).</a:t>
            </a:r>
          </a:p>
          <a:p>
            <a:pPr>
              <a:defRPr b="1" sz="950">
                <a:solidFill>
                  <a:srgbClr val="E11D48"/>
                </a:solidFill>
                <a:latin typeface="Arial"/>
              </a:defRPr>
            </a:pPr>
            <a:r>
              <a:t>• Automated Mitigation: </a:t>
            </a:r>
          </a:p>
          <a:p>
            <a:pPr>
              <a:defRPr sz="900">
                <a:solidFill>
                  <a:srgbClr val="0F172A"/>
                </a:solidFill>
                <a:latin typeface="Calibri"/>
              </a:defRPr>
            </a:pPr>
            <a:r>
              <a:t>   Calculates minimum consecutive lectures required to restore compliance before MU cutoff.</a:t>
            </a:r>
          </a:p>
        </p:txBody>
      </p:sp>
      <p:sp>
        <p:nvSpPr>
          <p:cNvPr id="12" name="Rounded Rectangle 11"/>
          <p:cNvSpPr/>
          <p:nvPr/>
        </p:nvSpPr>
        <p:spPr>
          <a:xfrm>
            <a:off x="6217920" y="132588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463039"/>
            <a:ext cx="109728" cy="21488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463039"/>
            <a:ext cx="4663440" cy="2148840"/>
          </a:xfrm>
          <a:prstGeom prst="rect">
            <a:avLst/>
          </a:prstGeom>
          <a:noFill/>
        </p:spPr>
        <p:txBody>
          <a:bodyPr wrap="square">
            <a:spAutoFit/>
          </a:bodyPr>
          <a:lstStyle/>
          <a:p>
            <a:pPr>
              <a:defRPr sz="1200" b="1">
                <a:solidFill>
                  <a:srgbClr val="071529"/>
                </a:solidFill>
                <a:latin typeface="Arial"/>
              </a:defRPr>
            </a:pPr>
            <a:r>
              <a:t>Academic SGPA Forecaster (OLS Multiple Regression)</a:t>
            </a:r>
          </a:p>
          <a:p>
            <a:pPr>
              <a:defRPr b="1" sz="950">
                <a:solidFill>
                  <a:srgbClr val="2563EB"/>
                </a:solidFill>
                <a:latin typeface="Arial"/>
              </a:defRPr>
            </a:pPr>
            <a:r>
              <a:t>• Predictive Formula: </a:t>
            </a:r>
          </a:p>
          <a:p>
            <a:pPr>
              <a:defRPr sz="900">
                <a:solidFill>
                  <a:srgbClr val="0F172A"/>
                </a:solidFill>
                <a:latin typeface="Calibri"/>
              </a:defRPr>
            </a:pPr>
            <a:r>
              <a:t>   SGPA_hat = 4.12 + 0.038(A) + 0.042(M) + 0.015(P) - 0.082(D) with 95% Confidence Interval.</a:t>
            </a:r>
          </a:p>
          <a:p>
            <a:pPr>
              <a:defRPr b="1" sz="950">
                <a:solidFill>
                  <a:srgbClr val="2563EB"/>
                </a:solidFill>
                <a:latin typeface="Arial"/>
              </a:defRPr>
            </a:pPr>
            <a:r>
              <a:t>• Multi-Feature Input: </a:t>
            </a:r>
          </a:p>
          <a:p>
            <a:pPr>
              <a:defRPr sz="900">
                <a:solidFill>
                  <a:srgbClr val="0F172A"/>
                </a:solidFill>
                <a:latin typeface="Calibri"/>
              </a:defRPr>
            </a:pPr>
            <a:r>
              <a:t>   Factors in lecture attendance, midterm exam marks, lab practicals, and assignment latency.</a:t>
            </a:r>
          </a:p>
          <a:p>
            <a:pPr>
              <a:defRPr b="1" sz="950">
                <a:solidFill>
                  <a:srgbClr val="2563EB"/>
                </a:solidFill>
                <a:latin typeface="Arial"/>
              </a:defRPr>
            </a:pPr>
            <a:r>
              <a:t>• Target Optimization: </a:t>
            </a:r>
          </a:p>
          <a:p>
            <a:pPr>
              <a:defRPr sz="900">
                <a:solidFill>
                  <a:srgbClr val="0F172A"/>
                </a:solidFill>
                <a:latin typeface="Calibri"/>
              </a:defRPr>
            </a:pPr>
            <a:r>
              <a:t>   Recommends specific score targets needed to elevate student performance into the next GPA tier.</a:t>
            </a:r>
          </a:p>
        </p:txBody>
      </p:sp>
      <p:sp>
        <p:nvSpPr>
          <p:cNvPr id="15" name="Rounded Rectangle 14"/>
          <p:cNvSpPr/>
          <p:nvPr/>
        </p:nvSpPr>
        <p:spPr>
          <a:xfrm>
            <a:off x="731520" y="393192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4069080"/>
            <a:ext cx="109728" cy="21488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069080"/>
            <a:ext cx="4663440" cy="2148840"/>
          </a:xfrm>
          <a:prstGeom prst="rect">
            <a:avLst/>
          </a:prstGeom>
          <a:noFill/>
        </p:spPr>
        <p:txBody>
          <a:bodyPr wrap="square">
            <a:spAutoFit/>
          </a:bodyPr>
          <a:lstStyle/>
          <a:p>
            <a:pPr>
              <a:defRPr sz="1200" b="1">
                <a:solidFill>
                  <a:srgbClr val="071529"/>
                </a:solidFill>
                <a:latin typeface="Arial"/>
              </a:defRPr>
            </a:pPr>
            <a:r>
              <a:t>Student Cohort Clustering (Unsupervised K-Means, k=4)</a:t>
            </a:r>
          </a:p>
          <a:p>
            <a:pPr>
              <a:defRPr b="1" sz="950">
                <a:solidFill>
                  <a:srgbClr val="0D9488"/>
                </a:solidFill>
                <a:latin typeface="Arial"/>
              </a:defRPr>
            </a:pPr>
            <a:r>
              <a:t>• Euclidean Optimization: </a:t>
            </a:r>
          </a:p>
          <a:p>
            <a:pPr>
              <a:defRPr sz="900">
                <a:solidFill>
                  <a:srgbClr val="0F172A"/>
                </a:solidFill>
                <a:latin typeface="Calibri"/>
              </a:defRPr>
            </a:pPr>
            <a:r>
              <a:t>   Centroid convergence minimizing J = sum(sum(||x - mu_i||^2)) across multi-dimensional features.</a:t>
            </a:r>
          </a:p>
          <a:p>
            <a:pPr>
              <a:defRPr b="1" sz="950">
                <a:solidFill>
                  <a:srgbClr val="0D9488"/>
                </a:solidFill>
                <a:latin typeface="Arial"/>
              </a:defRPr>
            </a:pPr>
            <a:r>
              <a:t>• 4 Distinct Cohorts: </a:t>
            </a:r>
          </a:p>
          <a:p>
            <a:pPr>
              <a:defRPr sz="900">
                <a:solidFill>
                  <a:srgbClr val="0F172A"/>
                </a:solidFill>
                <a:latin typeface="Calibri"/>
              </a:defRPr>
            </a:pPr>
            <a:r>
              <a:t>   High Performers (Green), Steady Achievers (Blue), Inconsistent Spikers (Orange), At-Risk (Red).</a:t>
            </a:r>
          </a:p>
          <a:p>
            <a:pPr>
              <a:defRPr b="1" sz="950">
                <a:solidFill>
                  <a:srgbClr val="0D9488"/>
                </a:solidFill>
                <a:latin typeface="Arial"/>
              </a:defRPr>
            </a:pPr>
            <a:r>
              <a:t>• Interactive 2D Canvas: </a:t>
            </a:r>
          </a:p>
          <a:p>
            <a:pPr>
              <a:defRPr sz="900">
                <a:solidFill>
                  <a:srgbClr val="0F172A"/>
                </a:solidFill>
                <a:latin typeface="Calibri"/>
              </a:defRPr>
            </a:pPr>
            <a:r>
              <a:t>   HTML5 Canvas visualizing student data points and dynamic centroid convergence in real time.</a:t>
            </a:r>
          </a:p>
        </p:txBody>
      </p:sp>
      <p:sp>
        <p:nvSpPr>
          <p:cNvPr id="18" name="Rounded Rectangle 17"/>
          <p:cNvSpPr/>
          <p:nvPr/>
        </p:nvSpPr>
        <p:spPr>
          <a:xfrm>
            <a:off x="6217920" y="393192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55080" y="4069080"/>
            <a:ext cx="109728" cy="21488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069080"/>
            <a:ext cx="4663440" cy="2148840"/>
          </a:xfrm>
          <a:prstGeom prst="rect">
            <a:avLst/>
          </a:prstGeom>
          <a:noFill/>
        </p:spPr>
        <p:txBody>
          <a:bodyPr wrap="square">
            <a:spAutoFit/>
          </a:bodyPr>
          <a:lstStyle/>
          <a:p>
            <a:pPr>
              <a:defRPr sz="1200" b="1">
                <a:solidFill>
                  <a:srgbClr val="071529"/>
                </a:solidFill>
                <a:latin typeface="Arial"/>
              </a:defRPr>
            </a:pPr>
            <a:r>
              <a:t>Cross-Departmental Telemetry &amp; Privacy Sandbox</a:t>
            </a:r>
          </a:p>
          <a:p>
            <a:pPr>
              <a:defRPr b="1" sz="950">
                <a:solidFill>
                  <a:srgbClr val="10B981"/>
                </a:solidFill>
                <a:latin typeface="Arial"/>
              </a:defRPr>
            </a:pPr>
            <a:r>
              <a:t>• Multi-Stream Analytics: </a:t>
            </a:r>
          </a:p>
          <a:p>
            <a:pPr>
              <a:defRPr sz="900">
                <a:solidFill>
                  <a:srgbClr val="0F172A"/>
                </a:solidFill>
                <a:latin typeface="Calibri"/>
              </a:defRPr>
            </a:pPr>
            <a:r>
              <a:t>   Cross-faculty telemetry comparing Data Science, IT, Computer Science, and Commerce metrics.</a:t>
            </a:r>
          </a:p>
          <a:p>
            <a:pPr>
              <a:defRPr b="1" sz="950">
                <a:solidFill>
                  <a:srgbClr val="10B981"/>
                </a:solidFill>
                <a:latin typeface="Arial"/>
              </a:defRPr>
            </a:pPr>
            <a:r>
              <a:t>• 100% Client-Side Execution: </a:t>
            </a:r>
          </a:p>
          <a:p>
            <a:pPr>
              <a:defRPr sz="900">
                <a:solidFill>
                  <a:srgbClr val="0F172A"/>
                </a:solidFill>
                <a:latin typeface="Calibri"/>
              </a:defRPr>
            </a:pPr>
            <a:r>
              <a:t>   Zero external API calls or third-party cloud data transmission, ensuring complete student privacy.</a:t>
            </a:r>
          </a:p>
          <a:p>
            <a:pPr>
              <a:defRPr b="1" sz="950">
                <a:solidFill>
                  <a:srgbClr val="10B981"/>
                </a:solidFill>
                <a:latin typeface="Arial"/>
              </a:defRPr>
            </a:pPr>
            <a:r>
              <a:t>• Faculty Action Triage: </a:t>
            </a:r>
          </a:p>
          <a:p>
            <a:pPr>
              <a:defRPr sz="900">
                <a:solidFill>
                  <a:srgbClr val="0F172A"/>
                </a:solidFill>
                <a:latin typeface="Calibri"/>
              </a:defRPr>
            </a:pPr>
            <a:r>
              <a:t>   Instantly identifies top 5% vulnerable students 6 weeks before Semester End Exams.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AUTOMATED SEATING ALGORITHMS &amp; INVIGILATOR OPERATIONS</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AI Exam Hall Seating &amp; Anti-Cheating Room Allocation Engine (`exam-seating.html`)</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1463039"/>
            <a:ext cx="109728" cy="214884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463039"/>
            <a:ext cx="4663440" cy="2148840"/>
          </a:xfrm>
          <a:prstGeom prst="rect">
            <a:avLst/>
          </a:prstGeom>
          <a:noFill/>
        </p:spPr>
        <p:txBody>
          <a:bodyPr wrap="square">
            <a:spAutoFit/>
          </a:bodyPr>
          <a:lstStyle/>
          <a:p>
            <a:pPr>
              <a:defRPr sz="1200" b="1">
                <a:solidFill>
                  <a:srgbClr val="071529"/>
                </a:solidFill>
                <a:latin typeface="Arial"/>
              </a:defRPr>
            </a:pPr>
            <a:r>
              <a:t>4-Stream Checkerboard Seating Matrix (Anti-Collusion)</a:t>
            </a:r>
          </a:p>
          <a:p>
            <a:pPr>
              <a:defRPr b="1" sz="950">
                <a:solidFill>
                  <a:srgbClr val="E11D48"/>
                </a:solidFill>
                <a:latin typeface="Arial"/>
              </a:defRPr>
            </a:pPr>
            <a:r>
              <a:t>• Checkerboard Constraint: </a:t>
            </a:r>
          </a:p>
          <a:p>
            <a:pPr>
              <a:defRPr sz="900">
                <a:solidFill>
                  <a:srgbClr val="0F172A"/>
                </a:solidFill>
                <a:latin typeface="Calibri"/>
              </a:defRPr>
            </a:pPr>
            <a:r>
              <a:t>   Adjacent seat distance D(S_i, S_j) &gt;= 1 such that Subject(S_i) != Subject(S_j).</a:t>
            </a:r>
          </a:p>
          <a:p>
            <a:pPr>
              <a:defRPr b="1" sz="950">
                <a:solidFill>
                  <a:srgbClr val="E11D48"/>
                </a:solidFill>
                <a:latin typeface="Arial"/>
              </a:defRPr>
            </a:pPr>
            <a:r>
              <a:t>• Cross-Stream Interleaving: </a:t>
            </a:r>
          </a:p>
          <a:p>
            <a:pPr>
              <a:defRPr sz="900">
                <a:solidFill>
                  <a:srgbClr val="0F172A"/>
                </a:solidFill>
                <a:latin typeface="Calibri"/>
              </a:defRPr>
            </a:pPr>
            <a:r>
              <a:t>   Interleaves B.Sc. Data Science, B.Sc. IT, B.Com, and BMS students across adjacent rows.</a:t>
            </a:r>
          </a:p>
          <a:p>
            <a:pPr>
              <a:defRPr b="1" sz="950">
                <a:solidFill>
                  <a:srgbClr val="E11D48"/>
                </a:solidFill>
                <a:latin typeface="Arial"/>
              </a:defRPr>
            </a:pPr>
            <a:r>
              <a:t>• Zero Malpractice Collision: </a:t>
            </a:r>
          </a:p>
          <a:p>
            <a:pPr>
              <a:defRPr sz="900">
                <a:solidFill>
                  <a:srgbClr val="0F172A"/>
                </a:solidFill>
                <a:latin typeface="Calibri"/>
              </a:defRPr>
            </a:pPr>
            <a:r>
              <a:t>   100% collision prevention eliminates peer peeking and unauthorized collusion in high-stakes exams.</a:t>
            </a:r>
          </a:p>
        </p:txBody>
      </p:sp>
      <p:sp>
        <p:nvSpPr>
          <p:cNvPr id="12" name="Rounded Rectangle 11"/>
          <p:cNvSpPr/>
          <p:nvPr/>
        </p:nvSpPr>
        <p:spPr>
          <a:xfrm>
            <a:off x="6217920" y="132588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463039"/>
            <a:ext cx="109728" cy="21488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463039"/>
            <a:ext cx="4663440" cy="2148840"/>
          </a:xfrm>
          <a:prstGeom prst="rect">
            <a:avLst/>
          </a:prstGeom>
          <a:noFill/>
        </p:spPr>
        <p:txBody>
          <a:bodyPr wrap="square">
            <a:spAutoFit/>
          </a:bodyPr>
          <a:lstStyle/>
          <a:p>
            <a:pPr>
              <a:defRPr sz="1200" b="1">
                <a:solidFill>
                  <a:srgbClr val="071529"/>
                </a:solidFill>
                <a:latin typeface="Arial"/>
              </a:defRPr>
            </a:pPr>
            <a:r>
              <a:t>Interactive 2D Hall Floorplan HUD &amp; Venue Topology</a:t>
            </a:r>
          </a:p>
          <a:p>
            <a:pPr>
              <a:defRPr b="1" sz="950">
                <a:solidFill>
                  <a:srgbClr val="2563EB"/>
                </a:solidFill>
                <a:latin typeface="Arial"/>
              </a:defRPr>
            </a:pPr>
            <a:r>
              <a:t>• 3 Multi-Venue Layouts: </a:t>
            </a:r>
          </a:p>
          <a:p>
            <a:pPr>
              <a:defRPr sz="900">
                <a:solidFill>
                  <a:srgbClr val="0F172A"/>
                </a:solidFill>
                <a:latin typeface="Calibri"/>
              </a:defRPr>
            </a:pPr>
            <a:r>
              <a:t>   Interactive floorplans for Kundnani Auditorium (54 seats), Lab 301 (36 seats), and Block 204 (48 seats).</a:t>
            </a:r>
          </a:p>
          <a:p>
            <a:pPr>
              <a:defRPr b="1" sz="950">
                <a:solidFill>
                  <a:srgbClr val="2563EB"/>
                </a:solidFill>
                <a:latin typeface="Arial"/>
              </a:defRPr>
            </a:pPr>
            <a:r>
              <a:t>• Real-Time Capacity Telemetry: </a:t>
            </a:r>
          </a:p>
          <a:p>
            <a:pPr>
              <a:defRPr sz="900">
                <a:solidFill>
                  <a:srgbClr val="0F172A"/>
                </a:solidFill>
                <a:latin typeface="Calibri"/>
              </a:defRPr>
            </a:pPr>
            <a:r>
              <a:t>   Displays live occupancy meters, available seats, attendance counters, and subject breakdowns.</a:t>
            </a:r>
          </a:p>
          <a:p>
            <a:pPr>
              <a:defRPr b="1" sz="950">
                <a:solidFill>
                  <a:srgbClr val="2563EB"/>
                </a:solidFill>
                <a:latin typeface="Arial"/>
              </a:defRPr>
            </a:pPr>
            <a:r>
              <a:t>• Visual Desk Inspection: </a:t>
            </a:r>
          </a:p>
          <a:p>
            <a:pPr>
              <a:defRPr sz="900">
                <a:solidFill>
                  <a:srgbClr val="0F172A"/>
                </a:solidFill>
                <a:latin typeface="Calibri"/>
              </a:defRPr>
            </a:pPr>
            <a:r>
              <a:t>   Click any desk to inspect student roll number, seat ID, branch, exam paper code, and check-in status.</a:t>
            </a:r>
          </a:p>
        </p:txBody>
      </p:sp>
      <p:sp>
        <p:nvSpPr>
          <p:cNvPr id="15" name="Rounded Rectangle 14"/>
          <p:cNvSpPr/>
          <p:nvPr/>
        </p:nvSpPr>
        <p:spPr>
          <a:xfrm>
            <a:off x="731520" y="393192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4069080"/>
            <a:ext cx="109728" cy="21488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069080"/>
            <a:ext cx="4663440" cy="2148840"/>
          </a:xfrm>
          <a:prstGeom prst="rect">
            <a:avLst/>
          </a:prstGeom>
          <a:noFill/>
        </p:spPr>
        <p:txBody>
          <a:bodyPr wrap="square">
            <a:spAutoFit/>
          </a:bodyPr>
          <a:lstStyle/>
          <a:p>
            <a:pPr>
              <a:defRPr sz="1200" b="1">
                <a:solidFill>
                  <a:srgbClr val="071529"/>
                </a:solidFill>
                <a:latin typeface="Arial"/>
              </a:defRPr>
            </a:pPr>
            <a:r>
              <a:t>Fast Student Seat Locator &amp; Printable Desk Slip</a:t>
            </a:r>
          </a:p>
          <a:p>
            <a:pPr>
              <a:defRPr b="1" sz="950">
                <a:solidFill>
                  <a:srgbClr val="0D9488"/>
                </a:solidFill>
                <a:latin typeface="Arial"/>
              </a:defRPr>
            </a:pPr>
            <a:r>
              <a:t>• Instant Roll/PRN Search: </a:t>
            </a:r>
          </a:p>
          <a:p>
            <a:pPr>
              <a:defRPr sz="900">
                <a:solidFill>
                  <a:srgbClr val="0F172A"/>
                </a:solidFill>
                <a:latin typeface="Calibri"/>
              </a:defRPr>
            </a:pPr>
            <a:r>
              <a:t>   Search by Roll No (e.g. SYDS-045) or PRN to instantly locate hall, row, and exact desk number.</a:t>
            </a:r>
          </a:p>
          <a:p>
            <a:pPr>
              <a:defRPr b="1" sz="950">
                <a:solidFill>
                  <a:srgbClr val="0D9488"/>
                </a:solidFill>
                <a:latin typeface="Arial"/>
              </a:defRPr>
            </a:pPr>
            <a:r>
              <a:t>• Satnam Singh Vohra (Roll 45): </a:t>
            </a:r>
          </a:p>
          <a:p>
            <a:pPr>
              <a:defRPr sz="900">
                <a:solidFill>
                  <a:srgbClr val="0F172A"/>
                </a:solidFill>
                <a:latin typeface="Calibri"/>
              </a:defRPr>
            </a:pPr>
            <a:r>
              <a:t>   Pre-mapped to Kundnani Auditorium, Desk B-14 with real-time glowing pulse highlight.</a:t>
            </a:r>
          </a:p>
          <a:p>
            <a:pPr>
              <a:defRPr b="1" sz="950">
                <a:solidFill>
                  <a:srgbClr val="0D9488"/>
                </a:solidFill>
                <a:latin typeface="Arial"/>
              </a:defRPr>
            </a:pPr>
            <a:r>
              <a:t>• 1-Click Desk Admit Slip: </a:t>
            </a:r>
          </a:p>
          <a:p>
            <a:pPr>
              <a:defRPr sz="900">
                <a:solidFill>
                  <a:srgbClr val="0F172A"/>
                </a:solidFill>
                <a:latin typeface="Calibri"/>
              </a:defRPr>
            </a:pPr>
            <a:r>
              <a:t>   Generates printable student desk slip with student photo, barcode, and exam timing.</a:t>
            </a:r>
          </a:p>
        </p:txBody>
      </p:sp>
      <p:sp>
        <p:nvSpPr>
          <p:cNvPr id="18" name="Rounded Rectangle 17"/>
          <p:cNvSpPr/>
          <p:nvPr/>
        </p:nvSpPr>
        <p:spPr>
          <a:xfrm>
            <a:off x="6217920" y="3931920"/>
            <a:ext cx="52120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55080" y="4069080"/>
            <a:ext cx="109728" cy="21488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069080"/>
            <a:ext cx="4663440" cy="2148840"/>
          </a:xfrm>
          <a:prstGeom prst="rect">
            <a:avLst/>
          </a:prstGeom>
          <a:noFill/>
        </p:spPr>
        <p:txBody>
          <a:bodyPr wrap="square">
            <a:spAutoFit/>
          </a:bodyPr>
          <a:lstStyle/>
          <a:p>
            <a:pPr>
              <a:defRPr sz="1200" b="1">
                <a:solidFill>
                  <a:srgbClr val="071529"/>
                </a:solidFill>
                <a:latin typeface="Arial"/>
              </a:defRPr>
            </a:pPr>
            <a:r>
              <a:t>Mumbai University Form 3 Invigilator Muster &amp; Export</a:t>
            </a:r>
          </a:p>
          <a:p>
            <a:pPr>
              <a:defRPr b="1" sz="950">
                <a:solidFill>
                  <a:srgbClr val="10B981"/>
                </a:solidFill>
                <a:latin typeface="Arial"/>
              </a:defRPr>
            </a:pPr>
            <a:r>
              <a:t>• Form 3 Room Statement: </a:t>
            </a:r>
          </a:p>
          <a:p>
            <a:pPr>
              <a:defRPr sz="900">
                <a:solidFill>
                  <a:srgbClr val="0F172A"/>
                </a:solidFill>
                <a:latin typeface="Calibri"/>
              </a:defRPr>
            </a:pPr>
            <a:r>
              <a:t>   Automated compilation of University of Mumbai Form 3 room allocation statement and block summary.</a:t>
            </a:r>
          </a:p>
          <a:p>
            <a:pPr>
              <a:defRPr b="1" sz="950">
                <a:solidFill>
                  <a:srgbClr val="10B981"/>
                </a:solidFill>
                <a:latin typeface="Arial"/>
              </a:defRPr>
            </a:pPr>
            <a:r>
              <a:t>• Chief Conductor Roster: </a:t>
            </a:r>
          </a:p>
          <a:p>
            <a:pPr>
              <a:defRPr sz="900">
                <a:solidFill>
                  <a:srgbClr val="0F172A"/>
                </a:solidFill>
                <a:latin typeface="Calibri"/>
              </a:defRPr>
            </a:pPr>
            <a:r>
              <a:t>   Invigilator duty assignment, absentee logging checkboxes, and answer booklet serial audit trail.</a:t>
            </a:r>
          </a:p>
          <a:p>
            <a:pPr>
              <a:defRPr b="1" sz="950">
                <a:solidFill>
                  <a:srgbClr val="10B981"/>
                </a:solidFill>
                <a:latin typeface="Arial"/>
              </a:defRPr>
            </a:pPr>
            <a:r>
              <a:t>• Print-Optimized Layout: </a:t>
            </a:r>
          </a:p>
          <a:p>
            <a:pPr>
              <a:defRPr sz="900">
                <a:solidFill>
                  <a:srgbClr val="0F172A"/>
                </a:solidFill>
                <a:latin typeface="Calibri"/>
              </a:defRPr>
            </a:pPr>
            <a:r>
              <a:t>   Includes clean print stylesheet for physical exam hall noticeboards and supervisor desks.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ENGINEERING EXCELLENCE</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Technical Innovations, Security &amp; Architecture Novelty</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107286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508760"/>
            <a:ext cx="10149840" cy="4572000"/>
          </a:xfrm>
          <a:prstGeom prst="rect">
            <a:avLst/>
          </a:prstGeom>
          <a:noFill/>
        </p:spPr>
        <p:txBody>
          <a:bodyPr wrap="square">
            <a:spAutoFit/>
          </a:bodyPr>
          <a:lstStyle/>
          <a:p>
            <a:pPr>
              <a:defRPr b="1" sz="1500">
                <a:solidFill>
                  <a:srgbClr val="071529"/>
                </a:solidFill>
              </a:defRPr>
            </a:pPr>
            <a:r>
              <a:t>💡 4 Key Technical Innovations in this Implementation</a:t>
            </a:r>
          </a:p>
          <a:p>
            <a:pPr>
              <a:defRPr b="1" sz="1100">
                <a:solidFill>
                  <a:srgbClr val="2563EB"/>
                </a:solidFill>
                <a:latin typeface="Arial"/>
              </a:defRPr>
            </a:pPr>
            <a:r>
              <a:t>★ 1. Zero-Dependency High-Performance Architecture: </a:t>
            </a:r>
          </a:p>
          <a:p>
            <a:pPr>
              <a:defRPr sz="1000">
                <a:solidFill>
                  <a:srgbClr val="0F172A"/>
                </a:solidFill>
                <a:latin typeface="Calibri"/>
              </a:defRPr>
            </a:pPr>
            <a:r>
              <a:t>    Eliminated heavy frontend frameworks (React, Angular, Vue). Engineered with pure semantic HTML5 and Vanilla ES6+ JavaScript. Results in an ultralight bundle, zero security vulnerabilities in node_modules, and sub-second page loads on campus 4G/5G connections.</a:t>
            </a:r>
          </a:p>
          <a:p>
            <a:pPr>
              <a:defRPr b="1" sz="1100">
                <a:solidFill>
                  <a:srgbClr val="2563EB"/>
                </a:solidFill>
                <a:latin typeface="Arial"/>
              </a:defRPr>
            </a:pPr>
            <a:r>
              <a:t>★ 2. Offline-First Progressive Web App (PWA) Engine: </a:t>
            </a:r>
          </a:p>
          <a:p>
            <a:pPr>
              <a:defRPr sz="1000">
                <a:solidFill>
                  <a:srgbClr val="0F172A"/>
                </a:solidFill>
                <a:latin typeface="Calibri"/>
              </a:defRPr>
            </a:pPr>
            <a:r>
              <a:t>    Engineered with a custom Service Worker (`sw.js`) and Web App Manifest (`manifest.json`). Enables students to install the portal as a standalone desktop/mobile app and access critical assets (Digital Student ID, Examination Hall Tickets, Timetables) even during total network outages.</a:t>
            </a:r>
          </a:p>
          <a:p>
            <a:pPr>
              <a:defRPr b="1" sz="1100">
                <a:solidFill>
                  <a:srgbClr val="2563EB"/>
                </a:solidFill>
                <a:latin typeface="Arial"/>
              </a:defRPr>
            </a:pPr>
            <a:r>
              <a:t>★ 3. Dynamic Rotating Cryptographic QR Protocol: </a:t>
            </a:r>
          </a:p>
          <a:p>
            <a:pPr>
              <a:defRPr sz="1000">
                <a:solidFill>
                  <a:srgbClr val="0F172A"/>
                </a:solidFill>
                <a:latin typeface="Calibri"/>
              </a:defRPr>
            </a:pPr>
            <a:r>
              <a:t>    Employs time-synchronized 10-second token rotation on the Classroom Projector HUD. Prevents screenshot forwarding and proxy attendance, maintaining strict legal compliance with Mumbai University Ordinance 0.119.</a:t>
            </a:r>
          </a:p>
          <a:p>
            <a:pPr>
              <a:defRPr b="1" sz="1100">
                <a:solidFill>
                  <a:srgbClr val="2563EB"/>
                </a:solidFill>
                <a:latin typeface="Arial"/>
              </a:defRPr>
            </a:pPr>
            <a:r>
              <a:t>★ 4. Autonomous Client-Side Voice AI Pipeline: </a:t>
            </a:r>
          </a:p>
          <a:p>
            <a:pPr>
              <a:defRPr sz="1000">
                <a:solidFill>
                  <a:srgbClr val="0F172A"/>
                </a:solidFill>
                <a:latin typeface="Calibri"/>
              </a:defRPr>
            </a:pPr>
            <a:r>
              <a:t>    Utilizes the browser's native Web Speech API (SpeechSynthesisUtterance and webkitSpeechRecognition) to provide a responsive, conversational voice assistant without requiring expensive or high-latency third-party cloud API keys.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FINANCIAL &amp; OPERATIONAL GAINS</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Institutional Impact &amp; Return on Investment (ROI)</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59436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08760"/>
            <a:ext cx="5577840" cy="4572000"/>
          </a:xfrm>
          <a:prstGeom prst="rect">
            <a:avLst/>
          </a:prstGeom>
          <a:noFill/>
        </p:spPr>
        <p:txBody>
          <a:bodyPr wrap="square">
            <a:spAutoFit/>
          </a:bodyPr>
          <a:lstStyle/>
          <a:p>
            <a:pPr>
              <a:defRPr b="1" sz="1350">
                <a:solidFill>
                  <a:srgbClr val="071529"/>
                </a:solidFill>
              </a:defRPr>
            </a:pPr>
            <a:r>
              <a:t>💰 Annual Financial Cost Savings for Smt. CHM College</a:t>
            </a:r>
          </a:p>
          <a:p>
            <a:pPr>
              <a:defRPr sz="1000">
                <a:solidFill>
                  <a:srgbClr val="0F172A"/>
                </a:solidFill>
                <a:latin typeface="Calibri"/>
              </a:defRPr>
            </a:pPr>
            <a:r>
              <a:t>• Elimination of Legacy 3rd-Party ERP Fees:  ₹ 6,50,000 / year</a:t>
            </a:r>
          </a:p>
          <a:p>
            <a:pPr>
              <a:defRPr sz="1000">
                <a:solidFill>
                  <a:srgbClr val="0F172A"/>
                </a:solidFill>
                <a:latin typeface="Calibri"/>
              </a:defRPr>
            </a:pPr>
            <a:r>
              <a:t>• Elimination of Bulk SMS Gateway Subscriptions:  ₹ 1,80,000 / year</a:t>
            </a:r>
          </a:p>
          <a:p>
            <a:pPr>
              <a:defRPr sz="1000">
                <a:solidFill>
                  <a:srgbClr val="0F172A"/>
                </a:solidFill>
                <a:latin typeface="Calibri"/>
              </a:defRPr>
            </a:pPr>
            <a:r>
              <a:t>• Paper, Printing &amp; Register Stationary Savings:  ₹ 4,20,000 / year</a:t>
            </a:r>
          </a:p>
          <a:p>
            <a:pPr>
              <a:defRPr sz="1000">
                <a:solidFill>
                  <a:srgbClr val="0F172A"/>
                </a:solidFill>
                <a:latin typeface="Calibri"/>
              </a:defRPr>
            </a:pPr>
            <a:r>
              <a:t>• Outsourced Physical ID Card Printing Vendors:  ₹ 2,50,000 / year</a:t>
            </a:r>
          </a:p>
          <a:p>
            <a:pPr>
              <a:defRPr sz="1000">
                <a:solidFill>
                  <a:srgbClr val="0F172A"/>
                </a:solidFill>
                <a:latin typeface="Calibri"/>
              </a:defRPr>
            </a:pPr>
            <a:r>
              <a:t>• Administrative Overtime for Manual Data Entry:  ₹ 3,50,000 / year</a:t>
            </a:r>
          </a:p>
          <a:p>
            <a:pPr>
              <a:defRPr b="1" sz="1150">
                <a:solidFill>
                  <a:srgbClr val="10B981"/>
                </a:solidFill>
                <a:latin typeface="Calibri"/>
              </a:defRPr>
            </a:pPr>
            <a:r>
              <a:t>✔ TOTAL ESTIMATED ANNUAL RECURRING SAVINGS:  ₹ 18,50,000 / year</a:t>
            </a:r>
          </a:p>
          <a:p>
            <a:br/>
            <a:pPr>
              <a:defRPr sz="850">
                <a:solidFill>
                  <a:srgbClr val="64748B"/>
                </a:solidFill>
              </a:defRPr>
            </a:pPr>
            <a:r>
              <a:t>* Estimates based on 11,000+ enrolled students and 140+ faculty members across Arts, Science, and Commerce.</a:t>
            </a:r>
          </a:p>
        </p:txBody>
      </p:sp>
      <p:sp>
        <p:nvSpPr>
          <p:cNvPr id="11" name="Rounded Rectangle 10"/>
          <p:cNvSpPr/>
          <p:nvPr/>
        </p:nvSpPr>
        <p:spPr>
          <a:xfrm>
            <a:off x="6858000" y="1325880"/>
            <a:ext cx="4572000" cy="4937760"/>
          </a:xfrm>
          <a:prstGeom prst="roundRect">
            <a:avLst/>
          </a:prstGeom>
          <a:solidFill>
            <a:srgbClr val="0F233D"/>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1508760"/>
            <a:ext cx="4206240" cy="4572000"/>
          </a:xfrm>
          <a:prstGeom prst="rect">
            <a:avLst/>
          </a:prstGeom>
          <a:noFill/>
        </p:spPr>
        <p:txBody>
          <a:bodyPr wrap="square">
            <a:spAutoFit/>
          </a:bodyPr>
          <a:lstStyle/>
          <a:p>
            <a:pPr>
              <a:defRPr b="1" sz="1350">
                <a:solidFill>
                  <a:srgbClr val="D4AF37"/>
                </a:solidFill>
              </a:defRPr>
            </a:pPr>
            <a:r>
              <a:t>📈 Key Operational Impact Metrics</a:t>
            </a:r>
          </a:p>
          <a:p>
            <a:pPr>
              <a:defRPr b="1" sz="1000">
                <a:solidFill>
                  <a:srgbClr val="FCE089"/>
                </a:solidFill>
                <a:latin typeface="Arial"/>
              </a:defRPr>
            </a:pPr>
            <a:r>
              <a:t>▶ 4,500+ Hours Reclaimed: </a:t>
            </a:r>
          </a:p>
          <a:p>
            <a:pPr>
              <a:defRPr sz="950">
                <a:solidFill>
                  <a:srgbClr val="FFFFFF"/>
                </a:solidFill>
                <a:latin typeface="Calibri"/>
              </a:defRPr>
            </a:pPr>
            <a:r>
              <a:t>   Faculty spend zero time on roll calls, reallocating 10-12 minutes per lecture back to academic teaching.</a:t>
            </a:r>
          </a:p>
          <a:p>
            <a:pPr>
              <a:defRPr b="1" sz="1000">
                <a:solidFill>
                  <a:srgbClr val="FCE089"/>
                </a:solidFill>
                <a:latin typeface="Arial"/>
              </a:defRPr>
            </a:pPr>
            <a:r>
              <a:t>▶ 85% Queue Reduction: </a:t>
            </a:r>
          </a:p>
          <a:p>
            <a:pPr>
              <a:defRPr sz="950">
                <a:solidFill>
                  <a:srgbClr val="FFFFFF"/>
                </a:solidFill>
                <a:latin typeface="Calibri"/>
              </a:defRPr>
            </a:pPr>
            <a:r>
              <a:t>   Digital admissions, online fee receipts, and e-railway concessions eliminate campus counter crowding.</a:t>
            </a:r>
          </a:p>
          <a:p>
            <a:pPr>
              <a:defRPr b="1" sz="1000">
                <a:solidFill>
                  <a:srgbClr val="FCE089"/>
                </a:solidFill>
                <a:latin typeface="Arial"/>
              </a:defRPr>
            </a:pPr>
            <a:r>
              <a:t>▶ 100% Ordinance 0.119 Audit Compliance: </a:t>
            </a:r>
          </a:p>
          <a:p>
            <a:pPr>
              <a:defRPr sz="950">
                <a:solidFill>
                  <a:srgbClr val="FFFFFF"/>
                </a:solidFill>
                <a:latin typeface="Calibri"/>
              </a:defRPr>
            </a:pPr>
            <a:r>
              <a:t>   Continuous attendance calculation eliminates disputed end-of-term defaulter lists.</a:t>
            </a:r>
          </a:p>
          <a:p>
            <a:pPr>
              <a:defRPr b="1" sz="1000">
                <a:solidFill>
                  <a:srgbClr val="FCE089"/>
                </a:solidFill>
                <a:latin typeface="Arial"/>
              </a:defRPr>
            </a:pPr>
            <a:r>
              <a:t>▶ A++ NAAC Readiness: </a:t>
            </a:r>
          </a:p>
          <a:p>
            <a:pPr>
              <a:defRPr sz="950">
                <a:solidFill>
                  <a:srgbClr val="FFFFFF"/>
                </a:solidFill>
                <a:latin typeface="Calibri"/>
              </a:defRPr>
            </a:pPr>
            <a:r>
              <a:t>   Comprehensive digital audit trail ready for NAAC Peer Team scrutiny across all 7 criteria.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square" tIns="0" bIns="0" lIns="0" rIns="0">
            <a:spAutoFit/>
          </a:bodyPr>
          <a:lstStyle/>
          <a:p>
            <a:pPr>
              <a:defRPr sz="950" b="1">
                <a:solidFill>
                  <a:srgbClr val="D4AF37"/>
                </a:solidFill>
                <a:latin typeface="Arial"/>
              </a:defRPr>
            </a:pPr>
            <a:r>
              <a:t>VALIDATION &amp; DELIVERY</a:t>
            </a:r>
          </a:p>
        </p:txBody>
      </p:sp>
      <p:sp>
        <p:nvSpPr>
          <p:cNvPr id="5" name="TextBox 4"/>
          <p:cNvSpPr txBox="1"/>
          <p:nvPr/>
        </p:nvSpPr>
        <p:spPr>
          <a:xfrm>
            <a:off x="731520" y="384048"/>
            <a:ext cx="10515600" cy="548640"/>
          </a:xfrm>
          <a:prstGeom prst="rect">
            <a:avLst/>
          </a:prstGeom>
          <a:noFill/>
        </p:spPr>
        <p:txBody>
          <a:bodyPr wrap="square" tIns="0" bIns="0" lIns="0" rIns="0">
            <a:spAutoFit/>
          </a:bodyPr>
          <a:lstStyle/>
          <a:p>
            <a:pPr>
              <a:defRPr sz="2100" b="1">
                <a:solidFill>
                  <a:srgbClr val="FFFFFF"/>
                </a:solidFill>
                <a:latin typeface="Arial"/>
              </a:defRPr>
            </a:pPr>
            <a:r>
              <a:t>System Verification, Quality Assurance &amp; Deployment</a:t>
            </a:r>
          </a:p>
        </p:txBody>
      </p:sp>
      <p:pic>
        <p:nvPicPr>
          <p:cNvPr id="6" name="Picture 5" descr="logo.png"/>
          <p:cNvPicPr>
            <a:picLocks noChangeAspect="1"/>
          </p:cNvPicPr>
          <p:nvPr/>
        </p:nvPicPr>
        <p:blipFill>
          <a:blip r:embed="rId2"/>
          <a:stretch>
            <a:fillRect/>
          </a:stretch>
        </p:blipFill>
        <p:spPr>
          <a:xfrm>
            <a:off x="11155680" y="164592"/>
            <a:ext cx="4432852" cy="731520"/>
          </a:xfrm>
          <a:prstGeom prst="rect">
            <a:avLst/>
          </a:prstGeom>
        </p:spPr>
      </p:pic>
      <p:sp>
        <p:nvSpPr>
          <p:cNvPr id="7" name="Rectangle 6"/>
          <p:cNvSpPr/>
          <p:nvPr/>
        </p:nvSpPr>
        <p:spPr>
          <a:xfrm>
            <a:off x="0" y="6492240"/>
            <a:ext cx="12191695"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698480" cy="274320"/>
          </a:xfrm>
          <a:prstGeom prst="rect">
            <a:avLst/>
          </a:prstGeom>
          <a:noFill/>
        </p:spPr>
        <p:txBody>
          <a:bodyPr wrap="square" tIns="0" bIns="0" lIns="0" rIns="0">
            <a:spAutoFit/>
          </a:bodyPr>
          <a:lstStyle/>
          <a:p>
            <a:pPr>
              <a:defRPr sz="850">
                <a:solidFill>
                  <a:srgbClr val="64748B"/>
                </a:solidFill>
                <a:latin typeface="Calibri"/>
              </a:defRPr>
            </a:pPr>
            <a:r>
              <a:t>Smt. CHM College, Ulhasnagar (Affiliated to University of Mumbai) | Student Academic Project Submission</a:t>
            </a:r>
          </a:p>
        </p:txBody>
      </p:sp>
      <p:sp>
        <p:nvSpPr>
          <p:cNvPr id="9" name="Rounded Rectangle 8"/>
          <p:cNvSpPr/>
          <p:nvPr/>
        </p:nvSpPr>
        <p:spPr>
          <a:xfrm>
            <a:off x="731520" y="1325880"/>
            <a:ext cx="34134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25880"/>
            <a:ext cx="3413455"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71600"/>
            <a:ext cx="3413455" cy="365760"/>
          </a:xfrm>
          <a:prstGeom prst="rect">
            <a:avLst/>
          </a:prstGeom>
          <a:noFill/>
        </p:spPr>
        <p:txBody>
          <a:bodyPr wrap="none" lIns="0" rIns="0" tIns="0" bIns="0">
            <a:spAutoFit/>
          </a:bodyPr>
          <a:lstStyle/>
          <a:p>
            <a:pPr algn="ctr">
              <a:defRPr b="1" sz="1000">
                <a:solidFill>
                  <a:srgbClr val="FFFFFF"/>
                </a:solidFill>
                <a:latin typeface="Arial"/>
              </a:defRPr>
            </a:pPr>
            <a:r>
              <a:t>CROSS-BROWSER TESTING</a:t>
            </a:r>
          </a:p>
        </p:txBody>
      </p:sp>
      <p:sp>
        <p:nvSpPr>
          <p:cNvPr id="12" name="TextBox 11"/>
          <p:cNvSpPr txBox="1"/>
          <p:nvPr/>
        </p:nvSpPr>
        <p:spPr>
          <a:xfrm>
            <a:off x="914400" y="2011680"/>
            <a:ext cx="3047695" cy="4114800"/>
          </a:xfrm>
          <a:prstGeom prst="rect">
            <a:avLst/>
          </a:prstGeom>
          <a:noFill/>
        </p:spPr>
        <p:txBody>
          <a:bodyPr wrap="square" lIns="0" rIns="0" tIns="0" bIns="0">
            <a:spAutoFit/>
          </a:bodyPr>
          <a:lstStyle/>
          <a:p/>
          <a:p>
            <a:pPr>
              <a:defRPr b="1" sz="950">
                <a:solidFill>
                  <a:srgbClr val="071529"/>
                </a:solidFill>
                <a:latin typeface="Arial"/>
              </a:defRPr>
            </a:pPr>
            <a:r>
              <a:t>• Tested Browsers: </a:t>
            </a:r>
          </a:p>
          <a:p>
            <a:pPr>
              <a:defRPr sz="900">
                <a:solidFill>
                  <a:srgbClr val="0F172A"/>
                </a:solidFill>
                <a:latin typeface="Calibri"/>
              </a:defRPr>
            </a:pPr>
            <a:r>
              <a:t>   Verified on Google Chrome 120+, Microsoft Edge, Mozilla Firefox, and Apple Safari.</a:t>
            </a:r>
          </a:p>
          <a:p>
            <a:pPr>
              <a:defRPr b="1" sz="950">
                <a:solidFill>
                  <a:srgbClr val="071529"/>
                </a:solidFill>
                <a:latin typeface="Arial"/>
              </a:defRPr>
            </a:pPr>
            <a:r>
              <a:t>• Mobile Responsiveness: </a:t>
            </a:r>
          </a:p>
          <a:p>
            <a:pPr>
              <a:defRPr sz="900">
                <a:solidFill>
                  <a:srgbClr val="0F172A"/>
                </a:solidFill>
                <a:latin typeface="Calibri"/>
              </a:defRPr>
            </a:pPr>
            <a:r>
              <a:t>   Tested across Android (Chrome/Samsung Internet) and iOS (Safari) viewports (360px to 1440px).</a:t>
            </a:r>
          </a:p>
          <a:p>
            <a:pPr>
              <a:defRPr b="1" sz="950">
                <a:solidFill>
                  <a:srgbClr val="071529"/>
                </a:solidFill>
                <a:latin typeface="Arial"/>
              </a:defRPr>
            </a:pPr>
            <a:r>
              <a:t>• CSS Grid &amp; Flexbox: </a:t>
            </a:r>
          </a:p>
          <a:p>
            <a:pPr>
              <a:defRPr sz="900">
                <a:solidFill>
                  <a:srgbClr val="0F172A"/>
                </a:solidFill>
                <a:latin typeface="Calibri"/>
              </a:defRPr>
            </a:pPr>
            <a:r>
              <a:t>   Zero visual clipping across all 24 modular pages.</a:t>
            </a:r>
          </a:p>
          <a:p>
            <a:pPr>
              <a:defRPr b="1" sz="950">
                <a:solidFill>
                  <a:srgbClr val="071529"/>
                </a:solidFill>
                <a:latin typeface="Arial"/>
              </a:defRPr>
            </a:pPr>
            <a:r>
              <a:t>• Print Stylesheets: </a:t>
            </a:r>
          </a:p>
          <a:p>
            <a:pPr>
              <a:defRPr sz="900">
                <a:solidFill>
                  <a:srgbClr val="0F172A"/>
                </a:solidFill>
                <a:latin typeface="Calibri"/>
              </a:defRPr>
            </a:pPr>
            <a:r>
              <a:t>   Custom `@media print` rules for Hall Tickets, Receipts, and Railway Concessions.</a:t>
            </a:r>
          </a:p>
        </p:txBody>
      </p:sp>
      <p:sp>
        <p:nvSpPr>
          <p:cNvPr id="13" name="Rounded Rectangle 12"/>
          <p:cNvSpPr/>
          <p:nvPr/>
        </p:nvSpPr>
        <p:spPr>
          <a:xfrm>
            <a:off x="4389120" y="1325880"/>
            <a:ext cx="34134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325880"/>
            <a:ext cx="3413455" cy="548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371600"/>
            <a:ext cx="3413455" cy="365760"/>
          </a:xfrm>
          <a:prstGeom prst="rect">
            <a:avLst/>
          </a:prstGeom>
          <a:noFill/>
        </p:spPr>
        <p:txBody>
          <a:bodyPr wrap="none" lIns="0" rIns="0" tIns="0" bIns="0">
            <a:spAutoFit/>
          </a:bodyPr>
          <a:lstStyle/>
          <a:p>
            <a:pPr algn="ctr">
              <a:defRPr b="1" sz="1000">
                <a:solidFill>
                  <a:srgbClr val="FFFFFF"/>
                </a:solidFill>
                <a:latin typeface="Arial"/>
              </a:defRPr>
            </a:pPr>
            <a:r>
              <a:t>PERFORMANCE &amp; AUDIT METRICS</a:t>
            </a:r>
          </a:p>
        </p:txBody>
      </p:sp>
      <p:sp>
        <p:nvSpPr>
          <p:cNvPr id="16" name="TextBox 15"/>
          <p:cNvSpPr txBox="1"/>
          <p:nvPr/>
        </p:nvSpPr>
        <p:spPr>
          <a:xfrm>
            <a:off x="4572000" y="2011680"/>
            <a:ext cx="3047695" cy="4114800"/>
          </a:xfrm>
          <a:prstGeom prst="rect">
            <a:avLst/>
          </a:prstGeom>
          <a:noFill/>
        </p:spPr>
        <p:txBody>
          <a:bodyPr wrap="square" lIns="0" rIns="0" tIns="0" bIns="0">
            <a:spAutoFit/>
          </a:bodyPr>
          <a:lstStyle/>
          <a:p/>
          <a:p>
            <a:pPr>
              <a:defRPr b="1" sz="950">
                <a:solidFill>
                  <a:srgbClr val="071529"/>
                </a:solidFill>
                <a:latin typeface="Arial"/>
              </a:defRPr>
            </a:pPr>
            <a:r>
              <a:t>• Lighthouse Score: </a:t>
            </a:r>
          </a:p>
          <a:p>
            <a:pPr>
              <a:defRPr sz="900">
                <a:solidFill>
                  <a:srgbClr val="0F172A"/>
                </a:solidFill>
                <a:latin typeface="Calibri"/>
              </a:defRPr>
            </a:pPr>
            <a:r>
              <a:t>   Performance: 96 | Accessibility: 98 | Best Practices: 100 | SEO: 100.</a:t>
            </a:r>
          </a:p>
          <a:p>
            <a:pPr>
              <a:defRPr b="1" sz="950">
                <a:solidFill>
                  <a:srgbClr val="071529"/>
                </a:solidFill>
                <a:latin typeface="Arial"/>
              </a:defRPr>
            </a:pPr>
            <a:r>
              <a:t>• First Contentful Paint: </a:t>
            </a:r>
          </a:p>
          <a:p>
            <a:pPr>
              <a:defRPr sz="900">
                <a:solidFill>
                  <a:srgbClr val="0F172A"/>
                </a:solidFill>
                <a:latin typeface="Calibri"/>
              </a:defRPr>
            </a:pPr>
            <a:r>
              <a:t>   Under 0.4 seconds due to zero external JavaScript framework bloat.</a:t>
            </a:r>
          </a:p>
          <a:p>
            <a:pPr>
              <a:defRPr b="1" sz="950">
                <a:solidFill>
                  <a:srgbClr val="071529"/>
                </a:solidFill>
                <a:latin typeface="Arial"/>
              </a:defRPr>
            </a:pPr>
            <a:r>
              <a:t>• DOM Elements: </a:t>
            </a:r>
          </a:p>
          <a:p>
            <a:pPr>
              <a:defRPr sz="900">
                <a:solidFill>
                  <a:srgbClr val="0F172A"/>
                </a:solidFill>
                <a:latin typeface="Calibri"/>
              </a:defRPr>
            </a:pPr>
            <a:r>
              <a:t>   Optimized semantic tree structure with accessible ARIA labels.</a:t>
            </a:r>
          </a:p>
          <a:p>
            <a:pPr>
              <a:defRPr b="1" sz="950">
                <a:solidFill>
                  <a:srgbClr val="071529"/>
                </a:solidFill>
                <a:latin typeface="Arial"/>
              </a:defRPr>
            </a:pPr>
            <a:r>
              <a:t>• PWA Audit: </a:t>
            </a:r>
          </a:p>
          <a:p>
            <a:pPr>
              <a:defRPr sz="900">
                <a:solidFill>
                  <a:srgbClr val="0F172A"/>
                </a:solidFill>
                <a:latin typeface="Calibri"/>
              </a:defRPr>
            </a:pPr>
            <a:r>
              <a:t>   Valid service worker registration with offline caching fallback.</a:t>
            </a:r>
          </a:p>
        </p:txBody>
      </p:sp>
      <p:sp>
        <p:nvSpPr>
          <p:cNvPr id="17" name="Rounded Rectangle 16"/>
          <p:cNvSpPr/>
          <p:nvPr/>
        </p:nvSpPr>
        <p:spPr>
          <a:xfrm>
            <a:off x="8046720" y="1325880"/>
            <a:ext cx="34134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325880"/>
            <a:ext cx="3413455" cy="5486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1371600"/>
            <a:ext cx="3413455" cy="365760"/>
          </a:xfrm>
          <a:prstGeom prst="rect">
            <a:avLst/>
          </a:prstGeom>
          <a:noFill/>
        </p:spPr>
        <p:txBody>
          <a:bodyPr wrap="none" lIns="0" rIns="0" tIns="0" bIns="0">
            <a:spAutoFit/>
          </a:bodyPr>
          <a:lstStyle/>
          <a:p>
            <a:pPr algn="ctr">
              <a:defRPr b="1" sz="1000">
                <a:solidFill>
                  <a:srgbClr val="FFFFFF"/>
                </a:solidFill>
                <a:latin typeface="Arial"/>
              </a:defRPr>
            </a:pPr>
            <a:r>
              <a:t>PRODUCTION DEPLOYMENT OPTIONS</a:t>
            </a:r>
          </a:p>
        </p:txBody>
      </p:sp>
      <p:sp>
        <p:nvSpPr>
          <p:cNvPr id="20" name="TextBox 19"/>
          <p:cNvSpPr txBox="1"/>
          <p:nvPr/>
        </p:nvSpPr>
        <p:spPr>
          <a:xfrm>
            <a:off x="8229600" y="2011680"/>
            <a:ext cx="3047695" cy="4114800"/>
          </a:xfrm>
          <a:prstGeom prst="rect">
            <a:avLst/>
          </a:prstGeom>
          <a:noFill/>
        </p:spPr>
        <p:txBody>
          <a:bodyPr wrap="square" lIns="0" rIns="0" tIns="0" bIns="0">
            <a:spAutoFit/>
          </a:bodyPr>
          <a:lstStyle/>
          <a:p/>
          <a:p>
            <a:pPr>
              <a:defRPr b="1" sz="950">
                <a:solidFill>
                  <a:srgbClr val="071529"/>
                </a:solidFill>
                <a:latin typeface="Arial"/>
              </a:defRPr>
            </a:pPr>
            <a:r>
              <a:t>• Docker Deployment: </a:t>
            </a:r>
          </a:p>
          <a:p>
            <a:pPr>
              <a:defRPr sz="900">
                <a:solidFill>
                  <a:srgbClr val="0F172A"/>
                </a:solidFill>
                <a:latin typeface="Calibri"/>
              </a:defRPr>
            </a:pPr>
            <a:r>
              <a:t>   Multi-stage Dockerfile running NGINX Alpine with gzip compression and cache headers.</a:t>
            </a:r>
          </a:p>
          <a:p>
            <a:pPr>
              <a:defRPr b="1" sz="950">
                <a:solidFill>
                  <a:srgbClr val="071529"/>
                </a:solidFill>
                <a:latin typeface="Arial"/>
              </a:defRPr>
            </a:pPr>
            <a:r>
              <a:t>• One-Command Compose: </a:t>
            </a:r>
          </a:p>
          <a:p>
            <a:pPr>
              <a:defRPr sz="900">
                <a:solidFill>
                  <a:srgbClr val="0F172A"/>
                </a:solidFill>
                <a:latin typeface="Calibri"/>
              </a:defRPr>
            </a:pPr>
            <a:r>
              <a:t>   `docker compose up -d` launches the complete campus stack in seconds.</a:t>
            </a:r>
          </a:p>
          <a:p>
            <a:pPr>
              <a:defRPr b="1" sz="950">
                <a:solidFill>
                  <a:srgbClr val="071529"/>
                </a:solidFill>
                <a:latin typeface="Arial"/>
              </a:defRPr>
            </a:pPr>
            <a:r>
              <a:t>• CI/CD Pipeline: </a:t>
            </a:r>
          </a:p>
          <a:p>
            <a:pPr>
              <a:defRPr sz="900">
                <a:solidFill>
                  <a:srgbClr val="0F172A"/>
                </a:solidFill>
                <a:latin typeface="Calibri"/>
              </a:defRPr>
            </a:pPr>
            <a:r>
              <a:t>   Automated GitHub Actions workflow (`deploy.yml`) testing HTML links and deploying to GitHub Pages.</a:t>
            </a:r>
          </a:p>
          <a:p>
            <a:pPr>
              <a:defRPr b="1" sz="950">
                <a:solidFill>
                  <a:srgbClr val="071529"/>
                </a:solidFill>
                <a:latin typeface="Arial"/>
              </a:defRPr>
            </a:pPr>
            <a:r>
              <a:t>• Campus Server Ready: </a:t>
            </a:r>
          </a:p>
          <a:p>
            <a:pPr>
              <a:defRPr sz="900">
                <a:solidFill>
                  <a:srgbClr val="0F172A"/>
                </a:solidFill>
                <a:latin typeface="Calibri"/>
              </a:defRPr>
            </a:pPr>
            <a:r>
              <a:t>   Zero monthly cloud hosting dependency; runs on local campus hardware.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05840"/>
            <a:ext cx="10728655"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640080"/>
          </a:xfrm>
          <a:prstGeom prst="rect">
            <a:avLst/>
          </a:prstGeom>
          <a:noFill/>
        </p:spPr>
        <p:txBody>
          <a:bodyPr wrap="none">
            <a:spAutoFit/>
          </a:bodyPr>
          <a:lstStyle/>
          <a:p>
            <a:pPr>
              <a:defRPr b="1" sz="2200">
                <a:solidFill>
                  <a:srgbClr val="FFFFFF"/>
                </a:solidFill>
                <a:latin typeface="Arial"/>
              </a:defRPr>
            </a:pPr>
            <a:r>
              <a:t>Conclusion, Future Roadmap &amp; Acknowledgments</a:t>
            </a:r>
          </a:p>
        </p:txBody>
      </p:sp>
      <p:sp>
        <p:nvSpPr>
          <p:cNvPr id="5" name="Rounded Rectangle 4"/>
          <p:cNvSpPr/>
          <p:nvPr/>
        </p:nvSpPr>
        <p:spPr>
          <a:xfrm>
            <a:off x="731520" y="1280160"/>
            <a:ext cx="3413455" cy="3931920"/>
          </a:xfrm>
          <a:prstGeom prst="roundRect">
            <a:avLst/>
          </a:prstGeom>
          <a:solidFill>
            <a:srgbClr val="0F233D"/>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3047695" cy="3657600"/>
          </a:xfrm>
          <a:prstGeom prst="rect">
            <a:avLst/>
          </a:prstGeom>
          <a:noFill/>
        </p:spPr>
        <p:txBody>
          <a:bodyPr wrap="square">
            <a:spAutoFit/>
          </a:bodyPr>
          <a:lstStyle/>
          <a:p>
            <a:pPr>
              <a:defRPr b="1" sz="1300">
                <a:solidFill>
                  <a:srgbClr val="D4AF37"/>
                </a:solidFill>
                <a:latin typeface="Arial"/>
              </a:defRPr>
            </a:pPr>
            <a:r>
              <a:t>🏁 Summary of Achievement</a:t>
            </a:r>
          </a:p>
          <a:p>
            <a:pPr>
              <a:defRPr sz="950">
                <a:solidFill>
                  <a:srgbClr val="FFFFFF"/>
                </a:solidFill>
                <a:latin typeface="Calibri"/>
              </a:defRPr>
            </a:pPr>
            <a:r>
              <a:t>✔ Delivered a production-ready digital campus ecosystem for Smt. CHM College.</a:t>
            </a:r>
          </a:p>
          <a:p>
            <a:pPr>
              <a:defRPr sz="950">
                <a:solidFill>
                  <a:srgbClr val="FFFFFF"/>
                </a:solidFill>
                <a:latin typeface="Calibri"/>
              </a:defRPr>
            </a:pPr>
            <a:r>
              <a:t>✔ Integrated 24 responsive modules covering the complete student &amp; faculty lifecycle.</a:t>
            </a:r>
          </a:p>
          <a:p>
            <a:pPr>
              <a:defRPr sz="950">
                <a:solidFill>
                  <a:srgbClr val="FFFFFF"/>
                </a:solidFill>
                <a:latin typeface="Calibri"/>
              </a:defRPr>
            </a:pPr>
            <a:r>
              <a:t>✔ Engineered innovative solutions for anti-proxy attendance, NEP 2020 Bloom's mapping, and offline PWA reliability.</a:t>
            </a:r>
          </a:p>
          <a:p>
            <a:pPr>
              <a:defRPr sz="950">
                <a:solidFill>
                  <a:srgbClr val="FFFFFF"/>
                </a:solidFill>
                <a:latin typeface="Calibri"/>
              </a:defRPr>
            </a:pPr>
            <a:r>
              <a:t>✔ Proved substantial financial savings (₹18.5 Lakhs/year) and operational efficiencies.</a:t>
            </a:r>
          </a:p>
        </p:txBody>
      </p:sp>
      <p:sp>
        <p:nvSpPr>
          <p:cNvPr id="7" name="Rounded Rectangle 6"/>
          <p:cNvSpPr/>
          <p:nvPr/>
        </p:nvSpPr>
        <p:spPr>
          <a:xfrm>
            <a:off x="4389120" y="1280160"/>
            <a:ext cx="3413455" cy="3931920"/>
          </a:xfrm>
          <a:prstGeom prst="roundRect">
            <a:avLst/>
          </a:prstGeom>
          <a:solidFill>
            <a:srgbClr val="0F233D"/>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417320"/>
            <a:ext cx="3047695" cy="3657600"/>
          </a:xfrm>
          <a:prstGeom prst="rect">
            <a:avLst/>
          </a:prstGeom>
          <a:noFill/>
        </p:spPr>
        <p:txBody>
          <a:bodyPr wrap="square">
            <a:spAutoFit/>
          </a:bodyPr>
          <a:lstStyle/>
          <a:p>
            <a:pPr>
              <a:defRPr b="1" sz="1300">
                <a:solidFill>
                  <a:srgbClr val="D4AF37"/>
                </a:solidFill>
                <a:latin typeface="Arial"/>
              </a:defRPr>
            </a:pPr>
            <a:r>
              <a:t>🔮 Future Scope &amp; Roadmap</a:t>
            </a:r>
          </a:p>
          <a:p>
            <a:pPr>
              <a:defRPr sz="950">
                <a:solidFill>
                  <a:srgbClr val="FFFFFF"/>
                </a:solidFill>
                <a:latin typeface="Calibri"/>
              </a:defRPr>
            </a:pPr>
            <a:r>
              <a:t>▶ DigiLocker &amp; ABC Integration: Direct sync with the Academic Bank of Credits (ABC ID).</a:t>
            </a:r>
          </a:p>
          <a:p>
            <a:pPr>
              <a:defRPr sz="950">
                <a:solidFill>
                  <a:srgbClr val="FFFFFF"/>
                </a:solidFill>
                <a:latin typeface="Calibri"/>
              </a:defRPr>
            </a:pPr>
            <a:r>
              <a:t>▶ Capacitor / React Native App: Compiling the PWA into Google Play &amp; Apple App Store binaries.</a:t>
            </a:r>
          </a:p>
          <a:p>
            <a:pPr>
              <a:defRPr sz="950">
                <a:solidFill>
                  <a:srgbClr val="FFFFFF"/>
                </a:solidFill>
                <a:latin typeface="Calibri"/>
              </a:defRPr>
            </a:pPr>
            <a:r>
              <a:t>▶ IoT RFID Turnstile Integration: Hardware gate sync with the student digital ID card barcode.</a:t>
            </a:r>
          </a:p>
          <a:p>
            <a:pPr>
              <a:defRPr sz="950">
                <a:solidFill>
                  <a:srgbClr val="FFFFFF"/>
                </a:solidFill>
                <a:latin typeface="Calibri"/>
              </a:defRPr>
            </a:pPr>
            <a:r>
              <a:t>▶ Board-wide Multi-Tenancy: Extending the system across HSNC sister colleges (KC, HR, National).</a:t>
            </a:r>
          </a:p>
        </p:txBody>
      </p:sp>
      <p:sp>
        <p:nvSpPr>
          <p:cNvPr id="9" name="Rounded Rectangle 8"/>
          <p:cNvSpPr/>
          <p:nvPr/>
        </p:nvSpPr>
        <p:spPr>
          <a:xfrm>
            <a:off x="8046720" y="1280160"/>
            <a:ext cx="3413455" cy="3931920"/>
          </a:xfrm>
          <a:prstGeom prst="roundRect">
            <a:avLst/>
          </a:prstGeom>
          <a:solidFill>
            <a:srgbClr val="0F233D"/>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417320"/>
            <a:ext cx="3047695" cy="3657600"/>
          </a:xfrm>
          <a:prstGeom prst="rect">
            <a:avLst/>
          </a:prstGeom>
          <a:noFill/>
        </p:spPr>
        <p:txBody>
          <a:bodyPr wrap="square">
            <a:spAutoFit/>
          </a:bodyPr>
          <a:lstStyle/>
          <a:p>
            <a:pPr>
              <a:defRPr b="1" sz="1300">
                <a:solidFill>
                  <a:srgbClr val="D4AF37"/>
                </a:solidFill>
                <a:latin typeface="Arial"/>
              </a:defRPr>
            </a:pPr>
            <a:r>
              <a:t>🙏 Special Acknowledgments</a:t>
            </a:r>
          </a:p>
          <a:p>
            <a:pPr>
              <a:defRPr sz="950">
                <a:solidFill>
                  <a:srgbClr val="FFFFFF"/>
                </a:solidFill>
                <a:latin typeface="Calibri"/>
              </a:defRPr>
            </a:pPr>
            <a:r>
              <a:t>• Respected Class Teacher &amp; Project Guide for invaluable mentorship and academic direction.</a:t>
            </a:r>
          </a:p>
          <a:p>
            <a:pPr>
              <a:defRPr sz="950">
                <a:solidFill>
                  <a:srgbClr val="FFFFFF"/>
                </a:solidFill>
                <a:latin typeface="Calibri"/>
              </a:defRPr>
            </a:pPr>
            <a:r>
              <a:t>• Head of the Department (HOD) and faculty members for domain requirements and guidance.</a:t>
            </a:r>
          </a:p>
          <a:p>
            <a:pPr>
              <a:defRPr sz="950">
                <a:solidFill>
                  <a:srgbClr val="FFFFFF"/>
                </a:solidFill>
                <a:latin typeface="Calibri"/>
              </a:defRPr>
            </a:pPr>
            <a:r>
              <a:t>• Principal Dr. Kishori Bhagat and Management for fostering innovation at Smt. CHM College.</a:t>
            </a:r>
          </a:p>
          <a:p>
            <a:pPr>
              <a:defRPr sz="950">
                <a:solidFill>
                  <a:srgbClr val="FFFFFF"/>
                </a:solidFill>
                <a:latin typeface="Calibri"/>
              </a:defRPr>
            </a:pPr>
            <a:r>
              <a:t>• University of Mumbai and HSNC Board for syllabus standards and accreditation guidelines.</a:t>
            </a:r>
          </a:p>
        </p:txBody>
      </p:sp>
      <p:sp>
        <p:nvSpPr>
          <p:cNvPr id="11" name="Rounded Rectangle 10"/>
          <p:cNvSpPr/>
          <p:nvPr/>
        </p:nvSpPr>
        <p:spPr>
          <a:xfrm>
            <a:off x="731520" y="5303520"/>
            <a:ext cx="10728655" cy="1325880"/>
          </a:xfrm>
          <a:prstGeom prst="roundRect">
            <a:avLst/>
          </a:prstGeom>
          <a:solidFill>
            <a:srgbClr val="1A365D"/>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349240"/>
            <a:ext cx="8961120" cy="1234440"/>
          </a:xfrm>
          <a:prstGeom prst="rect">
            <a:avLst/>
          </a:prstGeom>
          <a:noFill/>
        </p:spPr>
        <p:txBody>
          <a:bodyPr wrap="square">
            <a:spAutoFit/>
          </a:bodyPr>
          <a:lstStyle/>
          <a:p>
            <a:pPr>
              <a:defRPr b="1" sz="1500">
                <a:solidFill>
                  <a:srgbClr val="FCE089"/>
                </a:solidFill>
                <a:latin typeface="Arial"/>
              </a:defRPr>
            </a:pPr>
            <a:r>
              <a:t>THANK YOU! QUESTIONS &amp; LIVE DEMONSTRATION WELCOME</a:t>
            </a:r>
          </a:p>
          <a:p>
            <a:pPr>
              <a:defRPr sz="1000">
                <a:solidFill>
                  <a:srgbClr val="FFFFFF"/>
                </a:solidFill>
                <a:latin typeface="Calibri"/>
              </a:defRPr>
            </a:pPr>
            <a:r>
              <a:t>Live Deployment: https://satnamsinghvohra20-art.github.io/My-college-website/</a:t>
            </a:r>
          </a:p>
          <a:p>
            <a:pPr>
              <a:defRPr sz="950">
                <a:solidFill>
                  <a:srgbClr val="D4AF37"/>
                </a:solidFill>
                <a:latin typeface="Calibri"/>
              </a:defRPr>
            </a:pPr>
            <a:r>
              <a:t>Candidate: Satnam Singh Vohra (Roll 45, S.Y. B.Sc. Data Science) | Affiliated: University of Mumbai</a:t>
            </a:r>
          </a:p>
        </p:txBody>
      </p:sp>
      <p:pic>
        <p:nvPicPr>
          <p:cNvPr id="13" name="Picture 12" descr="live_demo_qr.png"/>
          <p:cNvPicPr>
            <a:picLocks noChangeAspect="1"/>
          </p:cNvPicPr>
          <p:nvPr/>
        </p:nvPicPr>
        <p:blipFill>
          <a:blip r:embed="rId2"/>
          <a:stretch>
            <a:fillRect/>
          </a:stretch>
        </p:blipFill>
        <p:spPr>
          <a:xfrm>
            <a:off x="10149840" y="5349240"/>
            <a:ext cx="1143000" cy="1143000"/>
          </a:xfrm>
          <a:prstGeom prst="rect">
            <a:avLst/>
          </a:prstGeom>
        </p:spPr>
      </p:pic>
      <p:sp>
        <p:nvSpPr>
          <p:cNvPr id="14" name="TextBox 13"/>
          <p:cNvSpPr txBox="1"/>
          <p:nvPr/>
        </p:nvSpPr>
        <p:spPr>
          <a:xfrm>
            <a:off x="9784080" y="6446520"/>
            <a:ext cx="1828800" cy="365760"/>
          </a:xfrm>
          <a:prstGeom prst="rect">
            <a:avLst/>
          </a:prstGeom>
          <a:noFill/>
        </p:spPr>
        <p:txBody>
          <a:bodyPr wrap="none">
            <a:spAutoFit/>
          </a:bodyPr>
          <a:lstStyle/>
          <a:p>
            <a:pPr algn="ctr">
              <a:defRPr sz="750" b="1">
                <a:solidFill>
                  <a:srgbClr val="D4AF37"/>
                </a:solidFill>
              </a:defRPr>
            </a:pPr>
            <a:r>
              <a:t>📱 Scan for Live Portal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